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Master" Target="../slideMasters/slideMaster1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00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0">
  <p:cSld name="封面">
    <p:spTree xmlns:a="http://schemas.openxmlformats.org/drawingml/2006/main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p="http://schemas.openxmlformats.org/presentationml/2006/main" xmlns:a="http://schemas.openxmlformats.org/drawingml/2006/main" xmlns:r="http://schemas.openxmlformats.org/officeDocument/2006/relationships">
        <p:nvPicPr>
          <p:cNvPr id="1004" name="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762000"/>
            <a:ext cx="1964531" cy="76200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1005" name="logo分隔线"/>
          <p:cNvSpPr/>
          <p:nvPr/>
        </p:nvSpPr>
        <p:spPr>
          <a:xfrm>
            <a:off x="2821781" y="847725"/>
            <a:ext cx="9525" cy="590550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006" name="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431" y="904875"/>
            <a:ext cx="2515340" cy="47625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1007" name="描边菱形"/>
          <p:cNvSpPr/>
          <p:nvPr/>
        </p:nvSpPr>
        <p:spPr>
          <a:xfrm rot="2700000">
            <a:off x="9258300" y="914400"/>
            <a:ext cx="1809750" cy="1809750"/>
          </a:xfrm>
          <a:prstGeom prst="rect">
            <a:avLst/>
          </a:prstGeom>
          <a:noFill/>
          <a:ln w="14288">
            <a:solidFill>
              <a:srgbClr val="CFD3C8"/>
            </a:solidFill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08" name="绿菱形"/>
          <p:cNvSpPr/>
          <p:nvPr/>
        </p:nvSpPr>
        <p:spPr>
          <a:xfrm rot="2700000">
            <a:off x="8572500" y="1219200"/>
            <a:ext cx="2190750" cy="219075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09" name="金菱形"/>
          <p:cNvSpPr/>
          <p:nvPr/>
        </p:nvSpPr>
        <p:spPr>
          <a:xfrm rot="2700000">
            <a:off x="9848850" y="2724150"/>
            <a:ext cx="1428750" cy="14287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0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1">
  <p:cSld name="目录">
    <p:spTree xmlns:a="http://schemas.openxmlformats.org/drawingml/2006/main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1010" name="进度段1"/>
          <p:cNvSpPr/>
          <p:nvPr/>
        </p:nvSpPr>
        <p:spPr>
          <a:xfrm>
            <a:off x="504825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11" name="进度段2"/>
          <p:cNvSpPr/>
          <p:nvPr/>
        </p:nvSpPr>
        <p:spPr>
          <a:xfrm>
            <a:off x="1028700" y="890588"/>
            <a:ext cx="457200" cy="85725"/>
          </a:xfrm>
          <a:prstGeom prst="rect">
            <a:avLst/>
          </a:prstGeom>
          <a:solidFill>
            <a:srgbClr val="DDE1D8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12" name="进度段3"/>
          <p:cNvSpPr/>
          <p:nvPr/>
        </p:nvSpPr>
        <p:spPr>
          <a:xfrm>
            <a:off x="1552575" y="890588"/>
            <a:ext cx="457200" cy="85725"/>
          </a:xfrm>
          <a:prstGeom prst="rect">
            <a:avLst/>
          </a:prstGeom>
          <a:solidFill>
            <a:srgbClr val="DDE1D8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13" name="进度段4"/>
          <p:cNvSpPr/>
          <p:nvPr/>
        </p:nvSpPr>
        <p:spPr>
          <a:xfrm>
            <a:off x="2076450" y="890588"/>
            <a:ext cx="457200" cy="85725"/>
          </a:xfrm>
          <a:prstGeom prst="rect">
            <a:avLst/>
          </a:prstGeom>
          <a:solidFill>
            <a:srgbClr val="DDE1D8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14" name="进度段5"/>
          <p:cNvSpPr/>
          <p:nvPr/>
        </p:nvSpPr>
        <p:spPr>
          <a:xfrm>
            <a:off x="2600325" y="890588"/>
            <a:ext cx="457200" cy="85725"/>
          </a:xfrm>
          <a:prstGeom prst="rect">
            <a:avLst/>
          </a:prstGeom>
          <a:solidFill>
            <a:srgbClr val="DDE1D8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15" name="标题占位符"/>
          <p:cNvSpPr>
            <a:spLocks noGrp="1"/>
          </p:cNvSpPr>
          <p:nvPr>
            <p:ph type="title"/>
          </p:nvPr>
        </p:nvSpPr>
        <p:spPr>
          <a:xfrm>
            <a:off x="504825" y="1581150"/>
            <a:ext cx="11182350" cy="476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28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单击编辑标题</a:t>
            </a:r>
          </a:p>
        </p:txBody>
      </p:sp>
      <p:sp xmlns:p="http://schemas.openxmlformats.org/presentationml/2006/main" xmlns:a="http://schemas.openxmlformats.org/drawingml/2006/main">
        <p:nvSpPr>
          <p:cNvPr id="1016" name="金色标题细线"/>
          <p:cNvSpPr/>
          <p:nvPr/>
        </p:nvSpPr>
        <p:spPr>
          <a:xfrm>
            <a:off x="504825" y="2171700"/>
            <a:ext cx="18288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02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1">
  <p:cSld name="章节过渡 01">
    <p:spTree xmlns:a="http://schemas.openxmlformats.org/drawingml/2006/main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1017" name="金菱形"/>
          <p:cNvSpPr/>
          <p:nvPr/>
        </p:nvSpPr>
        <p:spPr>
          <a:xfrm rot="2700000">
            <a:off x="1300162" y="3617595"/>
            <a:ext cx="1409700" cy="140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18" name="描边菱形"/>
          <p:cNvSpPr/>
          <p:nvPr/>
        </p:nvSpPr>
        <p:spPr>
          <a:xfrm rot="2700000">
            <a:off x="1031558" y="1786890"/>
            <a:ext cx="1866900" cy="1866900"/>
          </a:xfrm>
          <a:prstGeom prst="rect">
            <a:avLst/>
          </a:prstGeom>
          <a:noFill/>
          <a:ln w="14288">
            <a:solidFill>
              <a:srgbClr val="CFD3C8"/>
            </a:solidFill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19" name="绿方块"/>
          <p:cNvSpPr/>
          <p:nvPr/>
        </p:nvSpPr>
        <p:spPr>
          <a:xfrm>
            <a:off x="1000125" y="2428875"/>
            <a:ext cx="2019300" cy="20193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20" name="金线"/>
          <p:cNvSpPr/>
          <p:nvPr/>
        </p:nvSpPr>
        <p:spPr>
          <a:xfrm>
            <a:off x="3600450" y="3657600"/>
            <a:ext cx="10668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21" name="刻度1"/>
          <p:cNvSpPr/>
          <p:nvPr/>
        </p:nvSpPr>
        <p:spPr>
          <a:xfrm>
            <a:off x="3600450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22" name="刻度2"/>
          <p:cNvSpPr/>
          <p:nvPr/>
        </p:nvSpPr>
        <p:spPr>
          <a:xfrm>
            <a:off x="3971925" y="3848100"/>
            <a:ext cx="323850" cy="38100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23" name="刻度3"/>
          <p:cNvSpPr/>
          <p:nvPr/>
        </p:nvSpPr>
        <p:spPr>
          <a:xfrm>
            <a:off x="4343400" y="3848100"/>
            <a:ext cx="323850" cy="38100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24" name="刻度4"/>
          <p:cNvSpPr/>
          <p:nvPr/>
        </p:nvSpPr>
        <p:spPr>
          <a:xfrm>
            <a:off x="4714875" y="3848100"/>
            <a:ext cx="323850" cy="38100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25" name="刻度5"/>
          <p:cNvSpPr/>
          <p:nvPr/>
        </p:nvSpPr>
        <p:spPr>
          <a:xfrm>
            <a:off x="5086350" y="3848100"/>
            <a:ext cx="323850" cy="38100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03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1">
  <p:cSld name="章节过渡 02">
    <p:spTree xmlns:a="http://schemas.openxmlformats.org/drawingml/2006/main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1026" name="金菱形"/>
          <p:cNvSpPr/>
          <p:nvPr/>
        </p:nvSpPr>
        <p:spPr>
          <a:xfrm rot="2700000">
            <a:off x="1300162" y="3617595"/>
            <a:ext cx="1409700" cy="140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27" name="描边菱形"/>
          <p:cNvSpPr/>
          <p:nvPr/>
        </p:nvSpPr>
        <p:spPr>
          <a:xfrm rot="2700000">
            <a:off x="1031558" y="1786890"/>
            <a:ext cx="1866900" cy="1866900"/>
          </a:xfrm>
          <a:prstGeom prst="rect">
            <a:avLst/>
          </a:prstGeom>
          <a:noFill/>
          <a:ln w="14288">
            <a:solidFill>
              <a:srgbClr val="CFD3C8"/>
            </a:solidFill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28" name="绿方块"/>
          <p:cNvSpPr/>
          <p:nvPr/>
        </p:nvSpPr>
        <p:spPr>
          <a:xfrm>
            <a:off x="1000125" y="2428875"/>
            <a:ext cx="2019300" cy="20193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29" name="金线"/>
          <p:cNvSpPr/>
          <p:nvPr/>
        </p:nvSpPr>
        <p:spPr>
          <a:xfrm>
            <a:off x="3600450" y="3657600"/>
            <a:ext cx="10668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30" name="刻度1"/>
          <p:cNvSpPr/>
          <p:nvPr/>
        </p:nvSpPr>
        <p:spPr>
          <a:xfrm>
            <a:off x="3600450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31" name="刻度2"/>
          <p:cNvSpPr/>
          <p:nvPr/>
        </p:nvSpPr>
        <p:spPr>
          <a:xfrm>
            <a:off x="3971925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32" name="刻度3"/>
          <p:cNvSpPr/>
          <p:nvPr/>
        </p:nvSpPr>
        <p:spPr>
          <a:xfrm>
            <a:off x="4343400" y="3848100"/>
            <a:ext cx="323850" cy="38100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33" name="刻度4"/>
          <p:cNvSpPr/>
          <p:nvPr/>
        </p:nvSpPr>
        <p:spPr>
          <a:xfrm>
            <a:off x="4714875" y="3848100"/>
            <a:ext cx="323850" cy="38100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34" name="刻度5"/>
          <p:cNvSpPr/>
          <p:nvPr/>
        </p:nvSpPr>
        <p:spPr>
          <a:xfrm>
            <a:off x="5086350" y="3848100"/>
            <a:ext cx="323850" cy="38100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04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1">
  <p:cSld name="章节过渡 03">
    <p:spTree xmlns:a="http://schemas.openxmlformats.org/drawingml/2006/main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1035" name="金菱形"/>
          <p:cNvSpPr/>
          <p:nvPr/>
        </p:nvSpPr>
        <p:spPr>
          <a:xfrm rot="2700000">
            <a:off x="1300162" y="3617595"/>
            <a:ext cx="1409700" cy="140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36" name="描边菱形"/>
          <p:cNvSpPr/>
          <p:nvPr/>
        </p:nvSpPr>
        <p:spPr>
          <a:xfrm rot="2700000">
            <a:off x="1031558" y="1786890"/>
            <a:ext cx="1866900" cy="1866900"/>
          </a:xfrm>
          <a:prstGeom prst="rect">
            <a:avLst/>
          </a:prstGeom>
          <a:noFill/>
          <a:ln w="14288">
            <a:solidFill>
              <a:srgbClr val="CFD3C8"/>
            </a:solidFill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37" name="绿方块"/>
          <p:cNvSpPr/>
          <p:nvPr/>
        </p:nvSpPr>
        <p:spPr>
          <a:xfrm>
            <a:off x="1000125" y="2428875"/>
            <a:ext cx="2019300" cy="20193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38" name="金线"/>
          <p:cNvSpPr/>
          <p:nvPr/>
        </p:nvSpPr>
        <p:spPr>
          <a:xfrm>
            <a:off x="3600450" y="3657600"/>
            <a:ext cx="10668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39" name="刻度1"/>
          <p:cNvSpPr/>
          <p:nvPr/>
        </p:nvSpPr>
        <p:spPr>
          <a:xfrm>
            <a:off x="3600450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40" name="刻度2"/>
          <p:cNvSpPr/>
          <p:nvPr/>
        </p:nvSpPr>
        <p:spPr>
          <a:xfrm>
            <a:off x="3971925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41" name="刻度3"/>
          <p:cNvSpPr/>
          <p:nvPr/>
        </p:nvSpPr>
        <p:spPr>
          <a:xfrm>
            <a:off x="4343400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42" name="刻度4"/>
          <p:cNvSpPr/>
          <p:nvPr/>
        </p:nvSpPr>
        <p:spPr>
          <a:xfrm>
            <a:off x="4714875" y="3848100"/>
            <a:ext cx="323850" cy="38100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43" name="刻度5"/>
          <p:cNvSpPr/>
          <p:nvPr/>
        </p:nvSpPr>
        <p:spPr>
          <a:xfrm>
            <a:off x="5086350" y="3848100"/>
            <a:ext cx="323850" cy="38100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05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1">
  <p:cSld name="章节过渡 04">
    <p:spTree xmlns:a="http://schemas.openxmlformats.org/drawingml/2006/main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1044" name="金菱形"/>
          <p:cNvSpPr/>
          <p:nvPr/>
        </p:nvSpPr>
        <p:spPr>
          <a:xfrm rot="2700000">
            <a:off x="1300162" y="3617595"/>
            <a:ext cx="1409700" cy="140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45" name="描边菱形"/>
          <p:cNvSpPr/>
          <p:nvPr/>
        </p:nvSpPr>
        <p:spPr>
          <a:xfrm rot="2700000">
            <a:off x="1031558" y="1786890"/>
            <a:ext cx="1866900" cy="1866900"/>
          </a:xfrm>
          <a:prstGeom prst="rect">
            <a:avLst/>
          </a:prstGeom>
          <a:noFill/>
          <a:ln w="14288">
            <a:solidFill>
              <a:srgbClr val="CFD3C8"/>
            </a:solidFill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46" name="绿方块"/>
          <p:cNvSpPr/>
          <p:nvPr/>
        </p:nvSpPr>
        <p:spPr>
          <a:xfrm>
            <a:off x="1000125" y="2428875"/>
            <a:ext cx="2019300" cy="20193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47" name="金线"/>
          <p:cNvSpPr/>
          <p:nvPr/>
        </p:nvSpPr>
        <p:spPr>
          <a:xfrm>
            <a:off x="3600450" y="3657600"/>
            <a:ext cx="10668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48" name="刻度1"/>
          <p:cNvSpPr/>
          <p:nvPr/>
        </p:nvSpPr>
        <p:spPr>
          <a:xfrm>
            <a:off x="3600450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49" name="刻度2"/>
          <p:cNvSpPr/>
          <p:nvPr/>
        </p:nvSpPr>
        <p:spPr>
          <a:xfrm>
            <a:off x="3971925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50" name="刻度3"/>
          <p:cNvSpPr/>
          <p:nvPr/>
        </p:nvSpPr>
        <p:spPr>
          <a:xfrm>
            <a:off x="4343400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51" name="刻度4"/>
          <p:cNvSpPr/>
          <p:nvPr/>
        </p:nvSpPr>
        <p:spPr>
          <a:xfrm>
            <a:off x="4714875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52" name="刻度5"/>
          <p:cNvSpPr/>
          <p:nvPr/>
        </p:nvSpPr>
        <p:spPr>
          <a:xfrm>
            <a:off x="5086350" y="3848100"/>
            <a:ext cx="323850" cy="38100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06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1">
  <p:cSld name="章节过渡 05">
    <p:spTree xmlns:a="http://schemas.openxmlformats.org/drawingml/2006/main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1053" name="金菱形"/>
          <p:cNvSpPr/>
          <p:nvPr/>
        </p:nvSpPr>
        <p:spPr>
          <a:xfrm rot="2700000">
            <a:off x="1300162" y="3617595"/>
            <a:ext cx="1409700" cy="140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54" name="描边菱形"/>
          <p:cNvSpPr/>
          <p:nvPr/>
        </p:nvSpPr>
        <p:spPr>
          <a:xfrm rot="2700000">
            <a:off x="1031558" y="1786890"/>
            <a:ext cx="1866900" cy="1866900"/>
          </a:xfrm>
          <a:prstGeom prst="rect">
            <a:avLst/>
          </a:prstGeom>
          <a:noFill/>
          <a:ln w="14288">
            <a:solidFill>
              <a:srgbClr val="CFD3C8"/>
            </a:solidFill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55" name="绿方块"/>
          <p:cNvSpPr/>
          <p:nvPr/>
        </p:nvSpPr>
        <p:spPr>
          <a:xfrm>
            <a:off x="1000125" y="2428875"/>
            <a:ext cx="2019300" cy="20193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56" name="金线"/>
          <p:cNvSpPr/>
          <p:nvPr/>
        </p:nvSpPr>
        <p:spPr>
          <a:xfrm>
            <a:off x="3600450" y="3657600"/>
            <a:ext cx="10668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57" name="刻度1"/>
          <p:cNvSpPr/>
          <p:nvPr/>
        </p:nvSpPr>
        <p:spPr>
          <a:xfrm>
            <a:off x="3600450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58" name="刻度2"/>
          <p:cNvSpPr/>
          <p:nvPr/>
        </p:nvSpPr>
        <p:spPr>
          <a:xfrm>
            <a:off x="3971925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59" name="刻度3"/>
          <p:cNvSpPr/>
          <p:nvPr/>
        </p:nvSpPr>
        <p:spPr>
          <a:xfrm>
            <a:off x="4343400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60" name="刻度4"/>
          <p:cNvSpPr/>
          <p:nvPr/>
        </p:nvSpPr>
        <p:spPr>
          <a:xfrm>
            <a:off x="4714875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61" name="刻度5"/>
          <p:cNvSpPr/>
          <p:nvPr/>
        </p:nvSpPr>
        <p:spPr>
          <a:xfrm>
            <a:off x="5086350" y="3848100"/>
            <a:ext cx="323850" cy="3810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0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1">
  <p:cSld name="内容 01">
    <p:spTree xmlns:a="http://schemas.openxmlformats.org/drawingml/2006/main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1062" name="进度段1"/>
          <p:cNvSpPr/>
          <p:nvPr/>
        </p:nvSpPr>
        <p:spPr>
          <a:xfrm>
            <a:off x="504825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63" name="进度段2"/>
          <p:cNvSpPr/>
          <p:nvPr/>
        </p:nvSpPr>
        <p:spPr>
          <a:xfrm>
            <a:off x="1028700" y="890588"/>
            <a:ext cx="457200" cy="85725"/>
          </a:xfrm>
          <a:prstGeom prst="rect">
            <a:avLst/>
          </a:prstGeom>
          <a:solidFill>
            <a:srgbClr val="DDE1D8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64" name="进度段3"/>
          <p:cNvSpPr/>
          <p:nvPr/>
        </p:nvSpPr>
        <p:spPr>
          <a:xfrm>
            <a:off x="1552575" y="890588"/>
            <a:ext cx="457200" cy="85725"/>
          </a:xfrm>
          <a:prstGeom prst="rect">
            <a:avLst/>
          </a:prstGeom>
          <a:solidFill>
            <a:srgbClr val="DDE1D8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65" name="进度段4"/>
          <p:cNvSpPr/>
          <p:nvPr/>
        </p:nvSpPr>
        <p:spPr>
          <a:xfrm>
            <a:off x="2076450" y="890588"/>
            <a:ext cx="457200" cy="85725"/>
          </a:xfrm>
          <a:prstGeom prst="rect">
            <a:avLst/>
          </a:prstGeom>
          <a:solidFill>
            <a:srgbClr val="DDE1D8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66" name="进度段5"/>
          <p:cNvSpPr/>
          <p:nvPr/>
        </p:nvSpPr>
        <p:spPr>
          <a:xfrm>
            <a:off x="2600325" y="890588"/>
            <a:ext cx="457200" cy="85725"/>
          </a:xfrm>
          <a:prstGeom prst="rect">
            <a:avLst/>
          </a:prstGeom>
          <a:solidFill>
            <a:srgbClr val="DDE1D8"/>
          </a:solidFill>
          <a:ln>
            <a:noFill/>
          </a:ln>
        </p:spPr>
        <p:txBody>
          <a:bodyPr/>
          <a:lstStyle/>
          <a:p/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067" name="东大校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9425" y="409575"/>
            <a:ext cx="1047750" cy="104775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1068" name="标题占位符"/>
          <p:cNvSpPr>
            <a:spLocks noGrp="1"/>
          </p:cNvSpPr>
          <p:nvPr>
            <p:ph type="title"/>
          </p:nvPr>
        </p:nvSpPr>
        <p:spPr>
          <a:xfrm>
            <a:off x="504825" y="1581150"/>
            <a:ext cx="11182350" cy="476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28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单击编辑标题</a:t>
            </a:r>
          </a:p>
        </p:txBody>
      </p:sp>
      <p:sp xmlns:p="http://schemas.openxmlformats.org/presentationml/2006/main" xmlns:a="http://schemas.openxmlformats.org/drawingml/2006/main">
        <p:nvSpPr>
          <p:cNvPr id="1069" name="金色标题细线"/>
          <p:cNvSpPr/>
          <p:nvPr/>
        </p:nvSpPr>
        <p:spPr>
          <a:xfrm>
            <a:off x="504825" y="2171700"/>
            <a:ext cx="18288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08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1">
  <p:cSld name="内容 02">
    <p:spTree xmlns:a="http://schemas.openxmlformats.org/drawingml/2006/main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1070" name="进度段1"/>
          <p:cNvSpPr/>
          <p:nvPr/>
        </p:nvSpPr>
        <p:spPr>
          <a:xfrm>
            <a:off x="504825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71" name="进度段2"/>
          <p:cNvSpPr/>
          <p:nvPr/>
        </p:nvSpPr>
        <p:spPr>
          <a:xfrm>
            <a:off x="1028700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72" name="进度段3"/>
          <p:cNvSpPr/>
          <p:nvPr/>
        </p:nvSpPr>
        <p:spPr>
          <a:xfrm>
            <a:off x="1552575" y="890588"/>
            <a:ext cx="457200" cy="85725"/>
          </a:xfrm>
          <a:prstGeom prst="rect">
            <a:avLst/>
          </a:prstGeom>
          <a:solidFill>
            <a:srgbClr val="DDE1D8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73" name="进度段4"/>
          <p:cNvSpPr/>
          <p:nvPr/>
        </p:nvSpPr>
        <p:spPr>
          <a:xfrm>
            <a:off x="2076450" y="890588"/>
            <a:ext cx="457200" cy="85725"/>
          </a:xfrm>
          <a:prstGeom prst="rect">
            <a:avLst/>
          </a:prstGeom>
          <a:solidFill>
            <a:srgbClr val="DDE1D8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74" name="进度段5"/>
          <p:cNvSpPr/>
          <p:nvPr/>
        </p:nvSpPr>
        <p:spPr>
          <a:xfrm>
            <a:off x="2600325" y="890588"/>
            <a:ext cx="457200" cy="85725"/>
          </a:xfrm>
          <a:prstGeom prst="rect">
            <a:avLst/>
          </a:prstGeom>
          <a:solidFill>
            <a:srgbClr val="DDE1D8"/>
          </a:solidFill>
          <a:ln>
            <a:noFill/>
          </a:ln>
        </p:spPr>
        <p:txBody>
          <a:bodyPr/>
          <a:lstStyle/>
          <a:p/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075" name="东大校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9425" y="409575"/>
            <a:ext cx="1047750" cy="104775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1076" name="标题占位符"/>
          <p:cNvSpPr>
            <a:spLocks noGrp="1"/>
          </p:cNvSpPr>
          <p:nvPr>
            <p:ph type="title"/>
          </p:nvPr>
        </p:nvSpPr>
        <p:spPr>
          <a:xfrm>
            <a:off x="504825" y="1581150"/>
            <a:ext cx="11182350" cy="476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28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单击编辑标题</a:t>
            </a:r>
          </a:p>
        </p:txBody>
      </p:sp>
      <p:sp xmlns:p="http://schemas.openxmlformats.org/presentationml/2006/main" xmlns:a="http://schemas.openxmlformats.org/drawingml/2006/main">
        <p:nvSpPr>
          <p:cNvPr id="1077" name="金色标题细线"/>
          <p:cNvSpPr/>
          <p:nvPr/>
        </p:nvSpPr>
        <p:spPr>
          <a:xfrm>
            <a:off x="504825" y="2171700"/>
            <a:ext cx="18288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09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1">
  <p:cSld name="内容 03">
    <p:spTree xmlns:a="http://schemas.openxmlformats.org/drawingml/2006/main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1078" name="进度段1"/>
          <p:cNvSpPr/>
          <p:nvPr/>
        </p:nvSpPr>
        <p:spPr>
          <a:xfrm>
            <a:off x="504825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79" name="进度段2"/>
          <p:cNvSpPr/>
          <p:nvPr/>
        </p:nvSpPr>
        <p:spPr>
          <a:xfrm>
            <a:off x="1028700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80" name="进度段3"/>
          <p:cNvSpPr/>
          <p:nvPr/>
        </p:nvSpPr>
        <p:spPr>
          <a:xfrm>
            <a:off x="1552575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81" name="进度段4"/>
          <p:cNvSpPr/>
          <p:nvPr/>
        </p:nvSpPr>
        <p:spPr>
          <a:xfrm>
            <a:off x="2076450" y="890588"/>
            <a:ext cx="457200" cy="85725"/>
          </a:xfrm>
          <a:prstGeom prst="rect">
            <a:avLst/>
          </a:prstGeom>
          <a:solidFill>
            <a:srgbClr val="DDE1D8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82" name="进度段5"/>
          <p:cNvSpPr/>
          <p:nvPr/>
        </p:nvSpPr>
        <p:spPr>
          <a:xfrm>
            <a:off x="2600325" y="890588"/>
            <a:ext cx="457200" cy="85725"/>
          </a:xfrm>
          <a:prstGeom prst="rect">
            <a:avLst/>
          </a:prstGeom>
          <a:solidFill>
            <a:srgbClr val="DDE1D8"/>
          </a:solidFill>
          <a:ln>
            <a:noFill/>
          </a:ln>
        </p:spPr>
        <p:txBody>
          <a:bodyPr/>
          <a:lstStyle/>
          <a:p/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083" name="东大校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9425" y="409575"/>
            <a:ext cx="1047750" cy="104775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1084" name="标题占位符"/>
          <p:cNvSpPr>
            <a:spLocks noGrp="1"/>
          </p:cNvSpPr>
          <p:nvPr>
            <p:ph type="title"/>
          </p:nvPr>
        </p:nvSpPr>
        <p:spPr>
          <a:xfrm>
            <a:off x="504825" y="1581150"/>
            <a:ext cx="11182350" cy="476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28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单击编辑标题</a:t>
            </a:r>
          </a:p>
        </p:txBody>
      </p:sp>
      <p:sp xmlns:p="http://schemas.openxmlformats.org/presentationml/2006/main" xmlns:a="http://schemas.openxmlformats.org/drawingml/2006/main">
        <p:nvSpPr>
          <p:cNvPr id="1085" name="金色标题细线"/>
          <p:cNvSpPr/>
          <p:nvPr/>
        </p:nvSpPr>
        <p:spPr>
          <a:xfrm>
            <a:off x="504825" y="2171700"/>
            <a:ext cx="18288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10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1">
  <p:cSld name="内容 04">
    <p:spTree xmlns:a="http://schemas.openxmlformats.org/drawingml/2006/main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1086" name="进度段1"/>
          <p:cNvSpPr/>
          <p:nvPr/>
        </p:nvSpPr>
        <p:spPr>
          <a:xfrm>
            <a:off x="504825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87" name="进度段2"/>
          <p:cNvSpPr/>
          <p:nvPr/>
        </p:nvSpPr>
        <p:spPr>
          <a:xfrm>
            <a:off x="1028700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88" name="进度段3"/>
          <p:cNvSpPr/>
          <p:nvPr/>
        </p:nvSpPr>
        <p:spPr>
          <a:xfrm>
            <a:off x="1552575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89" name="进度段4"/>
          <p:cNvSpPr/>
          <p:nvPr/>
        </p:nvSpPr>
        <p:spPr>
          <a:xfrm>
            <a:off x="2076450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90" name="进度段5"/>
          <p:cNvSpPr/>
          <p:nvPr/>
        </p:nvSpPr>
        <p:spPr>
          <a:xfrm>
            <a:off x="2600325" y="890588"/>
            <a:ext cx="457200" cy="85725"/>
          </a:xfrm>
          <a:prstGeom prst="rect">
            <a:avLst/>
          </a:prstGeom>
          <a:solidFill>
            <a:srgbClr val="DDE1D8"/>
          </a:solidFill>
          <a:ln>
            <a:noFill/>
          </a:ln>
        </p:spPr>
        <p:txBody>
          <a:bodyPr/>
          <a:lstStyle/>
          <a:p/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091" name="东大校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9425" y="409575"/>
            <a:ext cx="1047750" cy="104775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1092" name="标题占位符"/>
          <p:cNvSpPr>
            <a:spLocks noGrp="1"/>
          </p:cNvSpPr>
          <p:nvPr>
            <p:ph type="title"/>
          </p:nvPr>
        </p:nvSpPr>
        <p:spPr>
          <a:xfrm>
            <a:off x="504825" y="1581150"/>
            <a:ext cx="11182350" cy="476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28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单击编辑标题</a:t>
            </a:r>
          </a:p>
        </p:txBody>
      </p:sp>
      <p:sp xmlns:p="http://schemas.openxmlformats.org/presentationml/2006/main" xmlns:a="http://schemas.openxmlformats.org/drawingml/2006/main">
        <p:nvSpPr>
          <p:cNvPr id="1093" name="金色标题细线"/>
          <p:cNvSpPr/>
          <p:nvPr/>
        </p:nvSpPr>
        <p:spPr>
          <a:xfrm>
            <a:off x="504825" y="2171700"/>
            <a:ext cx="18288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1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1">
  <p:cSld name="内容 05">
    <p:spTree xmlns:a="http://schemas.openxmlformats.org/drawingml/2006/main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1094" name="进度段1"/>
          <p:cNvSpPr/>
          <p:nvPr/>
        </p:nvSpPr>
        <p:spPr>
          <a:xfrm>
            <a:off x="504825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95" name="进度段2"/>
          <p:cNvSpPr/>
          <p:nvPr/>
        </p:nvSpPr>
        <p:spPr>
          <a:xfrm>
            <a:off x="1028700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96" name="进度段3"/>
          <p:cNvSpPr/>
          <p:nvPr/>
        </p:nvSpPr>
        <p:spPr>
          <a:xfrm>
            <a:off x="1552575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97" name="进度段4"/>
          <p:cNvSpPr/>
          <p:nvPr/>
        </p:nvSpPr>
        <p:spPr>
          <a:xfrm>
            <a:off x="2076450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098" name="进度段5"/>
          <p:cNvSpPr/>
          <p:nvPr/>
        </p:nvSpPr>
        <p:spPr>
          <a:xfrm>
            <a:off x="2600325" y="890588"/>
            <a:ext cx="457200" cy="8572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099" name="东大校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9425" y="409575"/>
            <a:ext cx="1047750" cy="104775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1100" name="标题占位符"/>
          <p:cNvSpPr>
            <a:spLocks noGrp="1"/>
          </p:cNvSpPr>
          <p:nvPr>
            <p:ph type="title"/>
          </p:nvPr>
        </p:nvSpPr>
        <p:spPr>
          <a:xfrm>
            <a:off x="504825" y="1581150"/>
            <a:ext cx="11182350" cy="476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28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单击编辑标题</a:t>
            </a:r>
          </a:p>
        </p:txBody>
      </p:sp>
      <p:sp xmlns:p="http://schemas.openxmlformats.org/presentationml/2006/main" xmlns:a="http://schemas.openxmlformats.org/drawingml/2006/main">
        <p:nvSpPr>
          <p:cNvPr id="1101" name="金色标题细线"/>
          <p:cNvSpPr/>
          <p:nvPr/>
        </p:nvSpPr>
        <p:spPr>
          <a:xfrm>
            <a:off x="504825" y="2171700"/>
            <a:ext cx="18288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12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1">
  <p:cSld name="致谢">
    <p:spTree xmlns:a="http://schemas.openxmlformats.org/drawingml/2006/main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1102" name="致谢金线"/>
          <p:cNvSpPr/>
          <p:nvPr/>
        </p:nvSpPr>
        <p:spPr>
          <a:xfrm>
            <a:off x="5734050" y="3676650"/>
            <a:ext cx="723900" cy="190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103" name="描边菱形"/>
          <p:cNvSpPr/>
          <p:nvPr/>
        </p:nvSpPr>
        <p:spPr>
          <a:xfrm rot="2700000">
            <a:off x="9620250" y="1143000"/>
            <a:ext cx="1809750" cy="1809750"/>
          </a:xfrm>
          <a:prstGeom prst="rect">
            <a:avLst/>
          </a:prstGeom>
          <a:noFill/>
          <a:ln w="14288">
            <a:solidFill>
              <a:srgbClr val="CFD3C8"/>
            </a:solidFill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104" name="绿菱形"/>
          <p:cNvSpPr/>
          <p:nvPr/>
        </p:nvSpPr>
        <p:spPr>
          <a:xfrm rot="2700000">
            <a:off x="8877300" y="1447800"/>
            <a:ext cx="2190750" cy="219075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 xmlns:p="http://schemas.openxmlformats.org/presentationml/2006/main" xmlns:a="http://schemas.openxmlformats.org/drawingml/2006/main">
        <p:nvSpPr>
          <p:cNvPr id="1105" name="金菱形"/>
          <p:cNvSpPr/>
          <p:nvPr/>
        </p:nvSpPr>
        <p:spPr>
          <a:xfrm rot="2700000">
            <a:off x="10172700" y="2857500"/>
            <a:ext cx="1428750" cy="142875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0.xml"/><Relationship Id="rId2" Type="http://schemas.openxmlformats.org/officeDocument/2006/relationships/slideLayout" Target="../slideLayouts/slideLayout209.xml"/><Relationship Id="rId3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7.xml"/><Relationship Id="rId5" Type="http://schemas.openxmlformats.org/officeDocument/2006/relationships/slideLayout" Target="../slideLayouts/slideLayout200.xml"/><Relationship Id="rId6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2.xml"/><Relationship Id="rId8" Type="http://schemas.openxmlformats.org/officeDocument/2006/relationships/slideLayout" Target="../slideLayouts/slideLayout203.xml"/><Relationship Id="rId9" Type="http://schemas.openxmlformats.org/officeDocument/2006/relationships/slideLayout" Target="../slideLayouts/slideLayout204.xml"/><Relationship Id="rId10" Type="http://schemas.openxmlformats.org/officeDocument/2006/relationships/slideLayout" Target="../slideLayouts/slideLayout205.xml"/><Relationship Id="rId11" Type="http://schemas.openxmlformats.org/officeDocument/2006/relationships/slideLayout" Target="../slideLayouts/slideLayout206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slideLayout" Target="../slideLayouts/slideLayout211.xml"/><Relationship Id="rId17" Type="http://schemas.openxmlformats.org/officeDocument/2006/relationships/slideLayout" Target="../slideLayouts/slideLayout2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页脚分隔线"/>
          <p:cNvSpPr/>
          <p:nvPr/>
        </p:nvSpPr>
        <p:spPr>
          <a:xfrm>
            <a:off x="504825" y="6286500"/>
            <a:ext cx="11182350" cy="9525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" name="页脚署名"/>
          <p:cNvSpPr txBox="1"/>
          <p:nvPr/>
        </p:nvSpPr>
        <p:spPr>
          <a:xfrm>
            <a:off x="504825" y="6362700"/>
            <a:ext cx="59055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1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张珂 · 东南大学电气工程学院</a:t>
            </a:r>
          </a:p>
        </p:txBody>
      </p:sp>
      <p:sp>
        <p:nvSpPr>
          <p:cNvPr id="1003" name="页码"/>
          <p:cNvSpPr txBox="1"/>
          <p:nvPr/>
        </p:nvSpPr>
        <p:spPr>
          <a:xfrm>
            <a:off x="9401175" y="63627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fld id="{A1B2C3D4-0001-4E5F-9A00-000000000001}" type="slidenum">
              <a:rPr lang="en-US" sz="1100" dirty="0">
                <a:solidFill>
                  <a:srgbClr val="6B6B6B"/>
                </a:solidFill>
                <a:latin typeface="Palatino Linotype"/>
                <a:ea typeface="Noto Sans SC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4"/>
    <p:sldLayoutId id="2147483657" r:id="rId3"/>
    <p:sldLayoutId id="2147483658" r:id="rId2"/>
    <p:sldLayoutId id="2147483659" r:id="rId1"/>
    <p:sldLayoutId id="2147483660" r:id="rId16"/>
    <p:sldLayoutId id="2147483661" r:id="rId17"/>
  </p:sldLayoutIdLst>
  <p:txStyles>
    <p:titleStyle>
      <a:lvl1pPr algn="l">
        <a:defRPr sz="2800" b="1">
          <a:solidFill>
            <a:srgbClr val="1A1A1A"/>
          </a:solidFill>
          <a:latin typeface="Palatino Linotype"/>
          <a:ea typeface="Noto Sans SC"/>
          <a:cs typeface="Palatino Linotype"/>
        </a:defRPr>
      </a:lvl1pPr>
    </p:titleStyle>
    <p:bodyStyle>
      <a:lvl1pPr marL="171450" indent="-171450">
        <a:defRPr sz="1600">
          <a:solidFill>
            <a:srgbClr val="1A1A1A"/>
          </a:solidFill>
          <a:latin typeface="Palatino Linotype"/>
          <a:ea typeface="Noto Sans SC"/>
          <a:cs typeface="Palatino Linotype"/>
        </a:defRPr>
      </a:lvl1pPr>
    </p:bodyStyle>
    <p:otherStyle>
      <a:defPPr>
        <a:defRPr sz="1400">
          <a:solidFill>
            <a:srgbClr val="1A1A1A"/>
          </a:solidFill>
          <a:latin typeface="Palatino Linotype"/>
          <a:ea typeface="Noto Sans SC"/>
          <a:cs typeface="Palatino Linotype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9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9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9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0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6" name="封面眉标"/>
          <p:cNvSpPr txBox="1"/>
          <p:nvPr/>
        </p:nvSpPr>
        <p:spPr>
          <a:xfrm>
            <a:off x="609600" y="1895475"/>
            <a:ext cx="838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600" b="1" spc="180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研究生第一学年研究进展汇报</a:t>
            </a:r>
          </a:p>
        </p:txBody>
      </p:sp>
      <p:sp>
        <p:nvSpPr>
          <p:cNvPr id="1107" name="封面主标题"/>
          <p:cNvSpPr txBox="1"/>
          <p:nvPr/>
        </p:nvSpPr>
        <p:spPr>
          <a:xfrm>
            <a:off x="609600" y="22479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40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面向时序预测的轻量化模型研究</a:t>
            </a:r>
          </a:p>
        </p:txBody>
      </p:sp>
      <p:sp>
        <p:nvSpPr>
          <p:cNvPr id="1108" name="封面副标题"/>
          <p:cNvSpPr txBox="1"/>
          <p:nvPr/>
        </p:nvSpPr>
        <p:spPr>
          <a:xfrm>
            <a:off x="609600" y="3067050"/>
            <a:ext cx="8382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8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Lightweight Modeling for Time-Series Forecasting</a:t>
            </a:r>
          </a:p>
        </p:txBody>
      </p:sp>
      <p:sp>
        <p:nvSpPr>
          <p:cNvPr id="1109" name="封面信息"/>
          <p:cNvSpPr txBox="1"/>
          <p:nvPr/>
        </p:nvSpPr>
        <p:spPr>
          <a:xfrm>
            <a:off x="609600" y="3848100"/>
            <a:ext cx="8382000" cy="1714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5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汇报人　　</a:t>
            </a:r>
            <a:r>
              <a:rPr lang="zh-CN" altLang="en-US" sz="165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张珂</a:t>
            </a:r>
          </a:p>
          <a:p>
            <a:pPr algn="l">
              <a:lnSpc>
                <a:spcPct val="150000"/>
              </a:lnSpc>
            </a:pPr>
            <a:r>
              <a:rPr lang="zh-CN" altLang="en-US" sz="165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导师　　</a:t>
            </a:r>
            <a:r>
              <a:rPr lang="zh-CN" altLang="en-US" sz="165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×××　教授</a:t>
            </a:r>
          </a:p>
          <a:p>
            <a:pPr algn="l">
              <a:lnSpc>
                <a:spcPct val="150000"/>
              </a:lnSpc>
            </a:pPr>
            <a:r>
              <a:rPr lang="zh-CN" altLang="en-US" sz="165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学院　　</a:t>
            </a:r>
            <a:r>
              <a:rPr lang="zh-CN" altLang="en-US" sz="165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东南大学电气工程学院</a:t>
            </a:r>
          </a:p>
          <a:p>
            <a:pPr algn="l">
              <a:lnSpc>
                <a:spcPct val="150000"/>
              </a:lnSpc>
            </a:pPr>
            <a:r>
              <a:rPr lang="zh-CN" altLang="en-US" sz="165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日期　　</a:t>
            </a:r>
            <a:r>
              <a:rPr lang="zh-CN" altLang="en-US" sz="165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1110" name="目录序号1"/>
          <p:cNvSpPr txBox="1"/>
          <p:nvPr/>
        </p:nvSpPr>
        <p:spPr>
          <a:xfrm>
            <a:off x="504825" y="2667000"/>
            <a:ext cx="533400" cy="4000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26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01</a:t>
            </a:r>
          </a:p>
        </p:txBody>
      </p:sp>
      <p:sp>
        <p:nvSpPr>
          <p:cNvPr id="1111" name="目录标题1"/>
          <p:cNvSpPr txBox="1"/>
          <p:nvPr/>
        </p:nvSpPr>
        <p:spPr>
          <a:xfrm>
            <a:off x="1057275" y="2667000"/>
            <a:ext cx="4810125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8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研究背景</a:t>
            </a:r>
          </a:p>
        </p:txBody>
      </p:sp>
      <p:sp>
        <p:nvSpPr>
          <p:cNvPr id="1112" name="目录英文1"/>
          <p:cNvSpPr txBox="1"/>
          <p:nvPr/>
        </p:nvSpPr>
        <p:spPr>
          <a:xfrm>
            <a:off x="1057275" y="2971800"/>
            <a:ext cx="4810125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000" spc="4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BACKGROUND</a:t>
            </a:r>
          </a:p>
        </p:txBody>
      </p:sp>
      <p:sp>
        <p:nvSpPr>
          <p:cNvPr id="1113" name="目录分隔线1"/>
          <p:cNvSpPr/>
          <p:nvPr/>
        </p:nvSpPr>
        <p:spPr>
          <a:xfrm>
            <a:off x="504825" y="3286125"/>
            <a:ext cx="5381625" cy="9525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4" name="目录序号2"/>
          <p:cNvSpPr txBox="1"/>
          <p:nvPr/>
        </p:nvSpPr>
        <p:spPr>
          <a:xfrm>
            <a:off x="6305550" y="2667000"/>
            <a:ext cx="533400" cy="4000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26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02</a:t>
            </a:r>
          </a:p>
        </p:txBody>
      </p:sp>
      <p:sp>
        <p:nvSpPr>
          <p:cNvPr id="1115" name="目录标题2"/>
          <p:cNvSpPr txBox="1"/>
          <p:nvPr/>
        </p:nvSpPr>
        <p:spPr>
          <a:xfrm>
            <a:off x="6858000" y="2667000"/>
            <a:ext cx="4810125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8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相关工作</a:t>
            </a:r>
          </a:p>
        </p:txBody>
      </p:sp>
      <p:sp>
        <p:nvSpPr>
          <p:cNvPr id="1116" name="目录英文2"/>
          <p:cNvSpPr txBox="1"/>
          <p:nvPr/>
        </p:nvSpPr>
        <p:spPr>
          <a:xfrm>
            <a:off x="6858000" y="2971800"/>
            <a:ext cx="4810125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000" spc="4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RELATED WORK</a:t>
            </a:r>
          </a:p>
        </p:txBody>
      </p:sp>
      <p:sp>
        <p:nvSpPr>
          <p:cNvPr id="1117" name="目录分隔线2"/>
          <p:cNvSpPr/>
          <p:nvPr/>
        </p:nvSpPr>
        <p:spPr>
          <a:xfrm>
            <a:off x="6305550" y="3286125"/>
            <a:ext cx="5381625" cy="9525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8" name="目录序号3"/>
          <p:cNvSpPr txBox="1"/>
          <p:nvPr/>
        </p:nvSpPr>
        <p:spPr>
          <a:xfrm>
            <a:off x="504825" y="3562350"/>
            <a:ext cx="533400" cy="4000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26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03</a:t>
            </a:r>
          </a:p>
        </p:txBody>
      </p:sp>
      <p:sp>
        <p:nvSpPr>
          <p:cNvPr id="1119" name="目录标题3"/>
          <p:cNvSpPr txBox="1"/>
          <p:nvPr/>
        </p:nvSpPr>
        <p:spPr>
          <a:xfrm>
            <a:off x="1057275" y="3562350"/>
            <a:ext cx="4810125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8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方法设计</a:t>
            </a:r>
          </a:p>
        </p:txBody>
      </p:sp>
      <p:sp>
        <p:nvSpPr>
          <p:cNvPr id="1120" name="目录英文3"/>
          <p:cNvSpPr txBox="1"/>
          <p:nvPr/>
        </p:nvSpPr>
        <p:spPr>
          <a:xfrm>
            <a:off x="1057275" y="3867150"/>
            <a:ext cx="4810125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000" spc="4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METHODOLOGY</a:t>
            </a:r>
          </a:p>
        </p:txBody>
      </p:sp>
      <p:sp>
        <p:nvSpPr>
          <p:cNvPr id="1121" name="目录分隔线3"/>
          <p:cNvSpPr/>
          <p:nvPr/>
        </p:nvSpPr>
        <p:spPr>
          <a:xfrm>
            <a:off x="504825" y="4181475"/>
            <a:ext cx="5381625" cy="9525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2" name="目录序号4"/>
          <p:cNvSpPr txBox="1"/>
          <p:nvPr/>
        </p:nvSpPr>
        <p:spPr>
          <a:xfrm>
            <a:off x="6305550" y="3562350"/>
            <a:ext cx="533400" cy="4000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26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04</a:t>
            </a:r>
          </a:p>
        </p:txBody>
      </p:sp>
      <p:sp>
        <p:nvSpPr>
          <p:cNvPr id="1123" name="目录标题4"/>
          <p:cNvSpPr txBox="1"/>
          <p:nvPr/>
        </p:nvSpPr>
        <p:spPr>
          <a:xfrm>
            <a:off x="6858000" y="3562350"/>
            <a:ext cx="4810125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8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实验与分析</a:t>
            </a:r>
          </a:p>
        </p:txBody>
      </p:sp>
      <p:sp>
        <p:nvSpPr>
          <p:cNvPr id="1124" name="目录英文4"/>
          <p:cNvSpPr txBox="1"/>
          <p:nvPr/>
        </p:nvSpPr>
        <p:spPr>
          <a:xfrm>
            <a:off x="6858000" y="3867150"/>
            <a:ext cx="4810125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000" spc="4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EXPERIMENTS</a:t>
            </a:r>
          </a:p>
        </p:txBody>
      </p:sp>
      <p:sp>
        <p:nvSpPr>
          <p:cNvPr id="1125" name="目录分隔线4"/>
          <p:cNvSpPr/>
          <p:nvPr/>
        </p:nvSpPr>
        <p:spPr>
          <a:xfrm>
            <a:off x="6305550" y="4181475"/>
            <a:ext cx="5381625" cy="9525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6" name="目录序号5"/>
          <p:cNvSpPr txBox="1"/>
          <p:nvPr/>
        </p:nvSpPr>
        <p:spPr>
          <a:xfrm>
            <a:off x="504825" y="4457700"/>
            <a:ext cx="533400" cy="4000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26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05</a:t>
            </a:r>
          </a:p>
        </p:txBody>
      </p:sp>
      <p:sp>
        <p:nvSpPr>
          <p:cNvPr id="1127" name="目录标题5"/>
          <p:cNvSpPr txBox="1"/>
          <p:nvPr/>
        </p:nvSpPr>
        <p:spPr>
          <a:xfrm>
            <a:off x="1057275" y="4457700"/>
            <a:ext cx="4810125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8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总结与展望</a:t>
            </a:r>
          </a:p>
        </p:txBody>
      </p:sp>
      <p:sp>
        <p:nvSpPr>
          <p:cNvPr id="1128" name="目录英文5"/>
          <p:cNvSpPr txBox="1"/>
          <p:nvPr/>
        </p:nvSpPr>
        <p:spPr>
          <a:xfrm>
            <a:off x="1057275" y="4762500"/>
            <a:ext cx="4810125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000" spc="4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CONCLUSION</a:t>
            </a:r>
          </a:p>
        </p:txBody>
      </p:sp>
      <p:sp>
        <p:nvSpPr>
          <p:cNvPr id="1129" name="目录分隔线5"/>
          <p:cNvSpPr/>
          <p:nvPr/>
        </p:nvSpPr>
        <p:spPr>
          <a:xfrm>
            <a:off x="504825" y="5076825"/>
            <a:ext cx="5381625" cy="9525"/>
          </a:xfrm>
          <a:prstGeom prst="rect">
            <a:avLst/>
          </a:prstGeom>
          <a:solidFill>
            <a:srgbClr val="E4E4DE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0" name="章节数字"/>
          <p:cNvSpPr txBox="1"/>
          <p:nvPr/>
        </p:nvSpPr>
        <p:spPr>
          <a:xfrm>
            <a:off x="1000125" y="2428875"/>
            <a:ext cx="2019300" cy="20193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zh-CN" altLang="en-US" sz="7200" b="1" dirty="0">
                <a:solidFill>
                  <a:srgbClr val="FFFFFF"/>
                </a:solidFill>
                <a:latin typeface="Palatino Linotype"/>
                <a:ea typeface="Noto Sans SC"/>
                <a:cs typeface="Palatino Linotype"/>
              </a:rPr>
              <a:t>01</a:t>
            </a:r>
          </a:p>
        </p:txBody>
      </p:sp>
      <p:sp>
        <p:nvSpPr>
          <p:cNvPr id="1131" name="章节标题"/>
          <p:cNvSpPr txBox="1"/>
          <p:nvPr/>
        </p:nvSpPr>
        <p:spPr>
          <a:xfrm>
            <a:off x="3600450" y="2552700"/>
            <a:ext cx="7620000" cy="5524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36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研究背景</a:t>
            </a:r>
          </a:p>
        </p:txBody>
      </p:sp>
      <p:sp>
        <p:nvSpPr>
          <p:cNvPr id="1132" name="章节英文"/>
          <p:cNvSpPr txBox="1"/>
          <p:nvPr/>
        </p:nvSpPr>
        <p:spPr>
          <a:xfrm>
            <a:off x="3600450" y="3143250"/>
            <a:ext cx="80010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5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数据来源与预处理</a:t>
            </a:r>
          </a:p>
        </p:txBody>
      </p:sp>
      <p:sp>
        <p:nvSpPr>
          <p:cNvPr id="1133" name="章节眉标"/>
          <p:cNvSpPr txBox="1"/>
          <p:nvPr/>
        </p:nvSpPr>
        <p:spPr>
          <a:xfrm>
            <a:off x="504825" y="13716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3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01 · 研究背景</a:t>
            </a:r>
          </a:p>
        </p:txBody>
      </p:sp>
      <p:sp>
        <p:nvSpPr>
          <p:cNvPr id="1134" name="章节内进度1-2"/>
          <p:cNvSpPr/>
          <p:nvPr/>
        </p:nvSpPr>
        <p:spPr>
          <a:xfrm>
            <a:off x="504825" y="1004888"/>
            <a:ext cx="2286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5" name="左栏"/>
          <p:cNvSpPr txBox="1"/>
          <p:nvPr/>
        </p:nvSpPr>
        <p:spPr>
          <a:xfrm>
            <a:off x="504825" y="2419350"/>
            <a:ext cx="5453062" cy="2857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lnSpc>
                <a:spcPct val="145000"/>
              </a:lnSpc>
              <a:spcAft>
                <a:spcPts val="800"/>
              </a:spcAft>
              <a:buClr>
                <a:srgbClr val="4D7C2B"/>
              </a:buClr>
              <a:buFont typeface="Arial"/>
              <a:buChar char="▪"/>
            </a:pPr>
            <a:r>
              <a:rPr lang="zh-CN" altLang="en-US" sz="1600" b="1" dirty="0">
                <a:solidFill>
                  <a:srgbClr val="3E6623"/>
                </a:solidFill>
                <a:latin typeface="Palatino Linotype"/>
                <a:ea typeface="Noto Sans SC"/>
                <a:cs typeface="Palatino Linotype"/>
              </a:rPr>
              <a:t>数据来源：</a:t>
            </a:r>
            <a:r>
              <a:rPr lang="zh-CN" altLang="en-US" sz="16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某系统 6 年逐 15 分钟记录，覆盖 237 个观测点。</a:t>
            </a:r>
          </a:p>
          <a:p>
            <a:pPr marL="171450" indent="-171450" algn="l">
              <a:lnSpc>
                <a:spcPct val="145000"/>
              </a:lnSpc>
              <a:spcAft>
                <a:spcPts val="800"/>
              </a:spcAft>
              <a:buClr>
                <a:srgbClr val="4D7C2B"/>
              </a:buClr>
              <a:buFont typeface="Arial"/>
              <a:buChar char="▪"/>
            </a:pPr>
            <a:r>
              <a:rPr lang="zh-CN" altLang="en-US" sz="1600" b="1" dirty="0">
                <a:solidFill>
                  <a:srgbClr val="3E6623"/>
                </a:solidFill>
                <a:latin typeface="Palatino Linotype"/>
                <a:ea typeface="Noto Sans SC"/>
                <a:cs typeface="Palatino Linotype"/>
              </a:rPr>
              <a:t>数据质量：</a:t>
            </a:r>
            <a:r>
              <a:rPr lang="zh-CN" altLang="en-US" sz="16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缺失率 2.3%，样条插值补齐；异常点用 3σ 准则识别。</a:t>
            </a:r>
          </a:p>
          <a:p>
            <a:pPr marL="171450" indent="-171450" algn="l">
              <a:lnSpc>
                <a:spcPct val="145000"/>
              </a:lnSpc>
              <a:spcAft>
                <a:spcPts val="800"/>
              </a:spcAft>
              <a:buClr>
                <a:srgbClr val="4D7C2B"/>
              </a:buClr>
              <a:buFont typeface="Arial"/>
              <a:buChar char="▪"/>
            </a:pPr>
            <a:r>
              <a:rPr lang="zh-CN" altLang="en-US" sz="1600" b="1" dirty="0">
                <a:solidFill>
                  <a:srgbClr val="3E6623"/>
                </a:solidFill>
                <a:latin typeface="Palatino Linotype"/>
                <a:ea typeface="Noto Sans SC"/>
                <a:cs typeface="Palatino Linotype"/>
              </a:rPr>
              <a:t>外部变量：</a:t>
            </a:r>
            <a:r>
              <a:rPr lang="zh-CN" altLang="en-US" sz="16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温度、湿度、辐照度按站点做 IDW 空间插值对齐。</a:t>
            </a:r>
          </a:p>
        </p:txBody>
      </p:sp>
      <p:sp>
        <p:nvSpPr>
          <p:cNvPr id="1136" name="注释"/>
          <p:cNvSpPr txBox="1"/>
          <p:nvPr/>
        </p:nvSpPr>
        <p:spPr>
          <a:xfrm>
            <a:off x="504825" y="4819650"/>
            <a:ext cx="5453062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1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注：所有序列做 Z-score 标准化，避免量纲影响。</a:t>
            </a:r>
          </a:p>
        </p:txBody>
      </p:sp>
      <p:sp>
        <p:nvSpPr>
          <p:cNvPr id="1137" name="右栏"/>
          <p:cNvSpPr txBox="1"/>
          <p:nvPr/>
        </p:nvSpPr>
        <p:spPr>
          <a:xfrm>
            <a:off x="6234112" y="2419350"/>
            <a:ext cx="5453062" cy="2857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lnSpc>
                <a:spcPct val="145000"/>
              </a:lnSpc>
              <a:spcAft>
                <a:spcPts val="800"/>
              </a:spcAft>
              <a:buClr>
                <a:srgbClr val="4D7C2B"/>
              </a:buClr>
              <a:buFont typeface="Arial"/>
              <a:buChar char="▪"/>
            </a:pPr>
            <a:r>
              <a:rPr lang="zh-CN" altLang="en-US" sz="1600" b="1" dirty="0">
                <a:solidFill>
                  <a:srgbClr val="00615E"/>
                </a:solidFill>
                <a:latin typeface="Palatino Linotype"/>
                <a:ea typeface="Noto Sans SC"/>
                <a:cs typeface="Palatino Linotype"/>
              </a:rPr>
              <a:t>特征工程：</a:t>
            </a:r>
            <a:r>
              <a:rPr lang="zh-CN" altLang="en-US" sz="16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滑动窗口长度经网格搜索定为 96 步（24 小时）。</a:t>
            </a:r>
          </a:p>
          <a:p>
            <a:pPr marL="171450" indent="-171450" algn="l">
              <a:lnSpc>
                <a:spcPct val="145000"/>
              </a:lnSpc>
              <a:spcAft>
                <a:spcPts val="800"/>
              </a:spcAft>
              <a:buClr>
                <a:srgbClr val="4D7C2B"/>
              </a:buClr>
              <a:buFont typeface="Arial"/>
              <a:buChar char="▪"/>
            </a:pPr>
            <a:r>
              <a:rPr lang="zh-CN" altLang="en-US" sz="1600" b="1" dirty="0">
                <a:solidFill>
                  <a:srgbClr val="00615E"/>
                </a:solidFill>
                <a:latin typeface="Palatino Linotype"/>
                <a:ea typeface="Noto Sans SC"/>
                <a:cs typeface="Palatino Linotype"/>
              </a:rPr>
              <a:t>日历特征：</a:t>
            </a:r>
            <a:r>
              <a:rPr lang="zh-CN" altLang="en-US" sz="16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星期、节假日、分时电价区间。</a:t>
            </a:r>
          </a:p>
          <a:p>
            <a:pPr marL="171450" indent="-171450" algn="l">
              <a:lnSpc>
                <a:spcPct val="145000"/>
              </a:lnSpc>
              <a:spcAft>
                <a:spcPts val="800"/>
              </a:spcAft>
              <a:buClr>
                <a:srgbClr val="4D7C2B"/>
              </a:buClr>
              <a:buFont typeface="Arial"/>
              <a:buChar char="▪"/>
            </a:pPr>
            <a:r>
              <a:rPr lang="zh-CN" altLang="en-US" sz="1600" b="1" dirty="0">
                <a:solidFill>
                  <a:srgbClr val="00615E"/>
                </a:solidFill>
                <a:latin typeface="Palatino Linotype"/>
                <a:ea typeface="Noto Sans SC"/>
                <a:cs typeface="Palatino Linotype"/>
              </a:rPr>
              <a:t>数据划分：</a:t>
            </a:r>
            <a:r>
              <a:rPr lang="zh-CN" altLang="en-US" sz="16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训练 / 验证 / 测试按 7 : 1 : 2 时序切分，不随机打乱。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模型总体框架</a:t>
            </a:r>
          </a:p>
        </p:txBody>
      </p:sp>
      <p:sp>
        <p:nvSpPr>
          <p:cNvPr id="1138" name="章节眉标"/>
          <p:cNvSpPr txBox="1"/>
          <p:nvPr/>
        </p:nvSpPr>
        <p:spPr>
          <a:xfrm>
            <a:off x="504825" y="13716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3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01 · 研究背景</a:t>
            </a:r>
          </a:p>
        </p:txBody>
      </p:sp>
      <p:sp>
        <p:nvSpPr>
          <p:cNvPr id="1139" name="章节内进度2-2"/>
          <p:cNvSpPr/>
          <p:nvPr/>
        </p:nvSpPr>
        <p:spPr>
          <a:xfrm>
            <a:off x="504825" y="1004888"/>
            <a:ext cx="4572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0" name="正文"/>
          <p:cNvSpPr txBox="1"/>
          <p:nvPr/>
        </p:nvSpPr>
        <p:spPr>
          <a:xfrm>
            <a:off x="504825" y="2419350"/>
            <a:ext cx="40005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5000"/>
              </a:lnSpc>
            </a:pPr>
            <a:r>
              <a:rPr lang="zh-CN" altLang="en-US" sz="16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整体框架分三层：</a:t>
            </a:r>
            <a:r>
              <a:rPr lang="zh-CN" altLang="en-US" sz="1600" b="1" dirty="0">
                <a:solidFill>
                  <a:srgbClr val="3E6623"/>
                </a:solidFill>
                <a:latin typeface="Palatino Linotype"/>
                <a:ea typeface="Noto Sans SC"/>
                <a:cs typeface="Palatino Linotype"/>
              </a:rPr>
              <a:t>感知层</a:t>
            </a:r>
            <a:r>
              <a:rPr lang="zh-CN" altLang="en-US" sz="16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汇聚量测与外部变量，</a:t>
            </a:r>
            <a:r>
              <a:rPr lang="zh-CN" altLang="en-US" sz="1600" b="1" dirty="0">
                <a:solidFill>
                  <a:srgbClr val="3E6623"/>
                </a:solidFill>
                <a:latin typeface="Palatino Linotype"/>
                <a:ea typeface="Noto Sans SC"/>
                <a:cs typeface="Palatino Linotype"/>
              </a:rPr>
              <a:t>特征层</a:t>
            </a:r>
            <a:r>
              <a:rPr lang="zh-CN" altLang="en-US" sz="16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提取多尺度模式，</a:t>
            </a:r>
            <a:r>
              <a:rPr lang="zh-CN" altLang="en-US" sz="1600" b="1" dirty="0">
                <a:solidFill>
                  <a:srgbClr val="3E6623"/>
                </a:solidFill>
                <a:latin typeface="Palatino Linotype"/>
                <a:ea typeface="Noto Sans SC"/>
                <a:cs typeface="Palatino Linotype"/>
              </a:rPr>
              <a:t>输出层</a:t>
            </a:r>
            <a:r>
              <a:rPr lang="zh-CN" altLang="en-US" sz="16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给出带区间的预测结果。</a:t>
            </a:r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相比点预测，区间预测可直接支撑备用容量决策，这是与既有工作的主要差别。</a:t>
            </a:r>
          </a:p>
        </p:txBody>
      </p:sp>
      <p:pic>
        <p:nvPicPr>
          <p:cNvPr id="1141" name="nc_ne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723" y="2362200"/>
            <a:ext cx="5420803" cy="3543300"/>
          </a:xfrm>
          <a:prstGeom prst="rect">
            <a:avLst/>
          </a:prstGeom>
        </p:spPr>
      </p:pic>
      <p:sp>
        <p:nvSpPr>
          <p:cNvPr id="1142" name="图注"/>
          <p:cNvSpPr txBox="1"/>
          <p:nvPr/>
        </p:nvSpPr>
        <p:spPr>
          <a:xfrm>
            <a:off x="4791075" y="5981700"/>
            <a:ext cx="6896100" cy="1714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1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图 1　</a:t>
            </a:r>
            <a:r>
              <a:rPr lang="zh-CN" altLang="en-US" sz="11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系统结构示意（示例插图）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43" name="章节数字"/>
          <p:cNvSpPr txBox="1"/>
          <p:nvPr/>
        </p:nvSpPr>
        <p:spPr>
          <a:xfrm>
            <a:off x="1000125" y="2428875"/>
            <a:ext cx="2019300" cy="20193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zh-CN" altLang="en-US" sz="7200" b="1" dirty="0">
                <a:solidFill>
                  <a:srgbClr val="FFFFFF"/>
                </a:solidFill>
                <a:latin typeface="Palatino Linotype"/>
                <a:ea typeface="Noto Sans SC"/>
                <a:cs typeface="Palatino Linotype"/>
              </a:rPr>
              <a:t>02</a:t>
            </a:r>
          </a:p>
        </p:txBody>
      </p:sp>
      <p:sp>
        <p:nvSpPr>
          <p:cNvPr id="1144" name="章节标题"/>
          <p:cNvSpPr txBox="1"/>
          <p:nvPr/>
        </p:nvSpPr>
        <p:spPr>
          <a:xfrm>
            <a:off x="3600450" y="2552700"/>
            <a:ext cx="7620000" cy="5524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36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相关工作</a:t>
            </a:r>
          </a:p>
        </p:txBody>
      </p:sp>
      <p:sp>
        <p:nvSpPr>
          <p:cNvPr id="1145" name="章节英文"/>
          <p:cNvSpPr txBox="1"/>
          <p:nvPr/>
        </p:nvSpPr>
        <p:spPr>
          <a:xfrm>
            <a:off x="3600450" y="3143250"/>
            <a:ext cx="80010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5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RELATED 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三项已完成工作</a:t>
            </a:r>
          </a:p>
        </p:txBody>
      </p:sp>
      <p:sp>
        <p:nvSpPr>
          <p:cNvPr id="1146" name="章节眉标"/>
          <p:cNvSpPr txBox="1"/>
          <p:nvPr/>
        </p:nvSpPr>
        <p:spPr>
          <a:xfrm>
            <a:off x="504825" y="13716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3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02 · 相关工作</a:t>
            </a:r>
          </a:p>
        </p:txBody>
      </p:sp>
      <p:sp>
        <p:nvSpPr>
          <p:cNvPr id="1147" name="章节内进度1-2"/>
          <p:cNvSpPr/>
          <p:nvPr/>
        </p:nvSpPr>
        <p:spPr>
          <a:xfrm>
            <a:off x="1028700" y="1004888"/>
            <a:ext cx="2286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8" name="卡顶"/>
          <p:cNvSpPr/>
          <p:nvPr/>
        </p:nvSpPr>
        <p:spPr>
          <a:xfrm>
            <a:off x="504825" y="2419350"/>
            <a:ext cx="360045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" name="卡底"/>
          <p:cNvSpPr/>
          <p:nvPr/>
        </p:nvSpPr>
        <p:spPr>
          <a:xfrm>
            <a:off x="504825" y="2447925"/>
            <a:ext cx="3600450" cy="1400175"/>
          </a:xfrm>
          <a:prstGeom prst="rect">
            <a:avLst/>
          </a:prstGeom>
          <a:solidFill>
            <a:srgbClr val="EAF0E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0" name="卡标题"/>
          <p:cNvSpPr txBox="1"/>
          <p:nvPr/>
        </p:nvSpPr>
        <p:spPr>
          <a:xfrm>
            <a:off x="666750" y="2562225"/>
            <a:ext cx="32766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lang="zh-CN" altLang="en-US" sz="15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数据构建</a:t>
            </a:r>
          </a:p>
        </p:txBody>
      </p:sp>
      <p:sp>
        <p:nvSpPr>
          <p:cNvPr id="1151" name="卡正文"/>
          <p:cNvSpPr txBox="1"/>
          <p:nvPr/>
        </p:nvSpPr>
        <p:spPr>
          <a:xfrm>
            <a:off x="666750" y="2857500"/>
            <a:ext cx="32766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3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整合 6 年逐 15 分钟记录，完成清洗与对齐，形成可复现管线。</a:t>
            </a:r>
          </a:p>
        </p:txBody>
      </p:sp>
      <p:sp>
        <p:nvSpPr>
          <p:cNvPr id="1152" name="卡顶"/>
          <p:cNvSpPr/>
          <p:nvPr/>
        </p:nvSpPr>
        <p:spPr>
          <a:xfrm>
            <a:off x="4295775" y="2419350"/>
            <a:ext cx="3600450" cy="28575"/>
          </a:xfrm>
          <a:prstGeom prst="rect">
            <a:avLst/>
          </a:prstGeom>
          <a:solidFill>
            <a:srgbClr val="00807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" name="卡底"/>
          <p:cNvSpPr/>
          <p:nvPr/>
        </p:nvSpPr>
        <p:spPr>
          <a:xfrm>
            <a:off x="4295775" y="2447925"/>
            <a:ext cx="3600450" cy="1400175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4" name="卡标题"/>
          <p:cNvSpPr txBox="1"/>
          <p:nvPr/>
        </p:nvSpPr>
        <p:spPr>
          <a:xfrm>
            <a:off x="4457700" y="2562225"/>
            <a:ext cx="32766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lang="zh-CN" altLang="en-US" sz="15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基线复现</a:t>
            </a:r>
          </a:p>
        </p:txBody>
      </p:sp>
      <p:sp>
        <p:nvSpPr>
          <p:cNvPr id="1155" name="卡正文"/>
          <p:cNvSpPr txBox="1"/>
          <p:nvPr/>
        </p:nvSpPr>
        <p:spPr>
          <a:xfrm>
            <a:off x="4457700" y="2857500"/>
            <a:ext cx="32766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3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复现三类基线模型，统一评测协议，便于公平比较。</a:t>
            </a:r>
          </a:p>
        </p:txBody>
      </p:sp>
      <p:sp>
        <p:nvSpPr>
          <p:cNvPr id="1156" name="卡顶"/>
          <p:cNvSpPr/>
          <p:nvPr/>
        </p:nvSpPr>
        <p:spPr>
          <a:xfrm>
            <a:off x="8086725" y="2419350"/>
            <a:ext cx="360045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7" name="卡底"/>
          <p:cNvSpPr/>
          <p:nvPr/>
        </p:nvSpPr>
        <p:spPr>
          <a:xfrm>
            <a:off x="8086725" y="2447925"/>
            <a:ext cx="3600450" cy="1400175"/>
          </a:xfrm>
          <a:prstGeom prst="rect">
            <a:avLst/>
          </a:prstGeom>
          <a:solidFill>
            <a:srgbClr val="EAF0E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8" name="卡标题"/>
          <p:cNvSpPr txBox="1"/>
          <p:nvPr/>
        </p:nvSpPr>
        <p:spPr>
          <a:xfrm>
            <a:off x="8248650" y="2562225"/>
            <a:ext cx="32766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lang="zh-CN" altLang="en-US" sz="15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初步结果</a:t>
            </a:r>
          </a:p>
        </p:txBody>
      </p:sp>
      <p:sp>
        <p:nvSpPr>
          <p:cNvPr id="1159" name="卡正文"/>
          <p:cNvSpPr txBox="1"/>
          <p:nvPr/>
        </p:nvSpPr>
        <p:spPr>
          <a:xfrm>
            <a:off x="8248650" y="2857500"/>
            <a:ext cx="32766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3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测试集上 MAE 较最优基线下降 8.4%，区间覆盖率接近名义值。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不同方法的精度对比</a:t>
            </a:r>
          </a:p>
        </p:txBody>
      </p:sp>
      <p:sp>
        <p:nvSpPr>
          <p:cNvPr id="1160" name="章节眉标"/>
          <p:cNvSpPr txBox="1"/>
          <p:nvPr/>
        </p:nvSpPr>
        <p:spPr>
          <a:xfrm>
            <a:off x="504825" y="13716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3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02 · 相关工作</a:t>
            </a:r>
          </a:p>
        </p:txBody>
      </p:sp>
      <p:sp>
        <p:nvSpPr>
          <p:cNvPr id="1161" name="章节内进度2-2"/>
          <p:cNvSpPr/>
          <p:nvPr/>
        </p:nvSpPr>
        <p:spPr>
          <a:xfrm>
            <a:off x="1028700" y="1004888"/>
            <a:ext cx="4572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2" name="注释"/>
          <p:cNvSpPr txBox="1"/>
          <p:nvPr/>
        </p:nvSpPr>
        <p:spPr>
          <a:xfrm>
            <a:off x="504825" y="2419350"/>
            <a:ext cx="1118235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1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表 1　不同方法的误差对比（示例数据，替换为实测结果）</a:t>
            </a:r>
          </a:p>
        </p:txBody>
      </p:sp>
      <p:graphicFrame>
        <p:nvGraphicFramePr>
          <p:cNvPr id="1163" name="Table 1162"/>
          <p:cNvGraphicFramePr>
            <a:graphicFrameLocks noGrp="1"/>
          </p:cNvGraphicFramePr>
          <p:nvPr/>
        </p:nvGraphicFramePr>
        <p:xfrm>
          <a:off x="504825" y="2628900"/>
          <a:ext cx="11182350" cy="14287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354705"/>
                <a:gridCol w="1789176"/>
                <a:gridCol w="1789176"/>
                <a:gridCol w="2012823"/>
                <a:gridCol w="2236470"/>
              </a:tblGrid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alatino Linotype"/>
                          <a:ea typeface="Noto Sans SC"/>
                        </a:rPr>
                        <a:t>方法</a:t>
                      </a:r>
                    </a:p>
                  </a:txBody>
                  <a:tcPr marL="76200" marR="76200" marT="28575" marB="28575" anchor="ctr">
                    <a:solidFill>
                      <a:srgbClr val="4D7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Palatino Linotype"/>
                          <a:ea typeface="Noto Sans SC"/>
                        </a:rPr>
                        <a:t>MAE</a:t>
                      </a:r>
                    </a:p>
                  </a:txBody>
                  <a:tcPr marL="76200" marR="76200" marT="28575" marB="28575" anchor="ctr">
                    <a:solidFill>
                      <a:srgbClr val="4D7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Palatino Linotype"/>
                          <a:ea typeface="Noto Sans SC"/>
                        </a:rPr>
                        <a:t>RMSE</a:t>
                      </a:r>
                    </a:p>
                  </a:txBody>
                  <a:tcPr marL="76200" marR="76200" marT="28575" marB="28575" anchor="ctr">
                    <a:solidFill>
                      <a:srgbClr val="4D7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Palatino Linotype"/>
                          <a:ea typeface="Noto Sans SC"/>
                        </a:rPr>
                        <a:t>MAPE / %</a:t>
                      </a:r>
                    </a:p>
                  </a:txBody>
                  <a:tcPr marL="76200" marR="76200" marT="28575" marB="28575" anchor="ctr">
                    <a:solidFill>
                      <a:srgbClr val="4D7C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Palatino Linotype"/>
                          <a:ea typeface="Noto Sans SC"/>
                        </a:rPr>
                        <a:t>覆盖率 / %</a:t>
                      </a:r>
                    </a:p>
                  </a:txBody>
                  <a:tcPr marL="76200" marR="76200" marT="28575" marB="28575" anchor="ctr">
                    <a:solidFill>
                      <a:srgbClr val="4D7C2B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基线 A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0.412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0.587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4.71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—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基线 B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5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0.386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5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0.551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5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4.42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5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—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5F7F1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基线 C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0.371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0.534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4.28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Palatino Linotype"/>
                          <a:ea typeface="Noto Sans SC"/>
                        </a:rPr>
                        <a:t>—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E6623"/>
                          </a:solidFill>
                          <a:latin typeface="Palatino Linotype"/>
                          <a:ea typeface="Noto Sans SC"/>
                        </a:rPr>
                        <a:t>本文方法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5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E6623"/>
                          </a:solidFill>
                          <a:latin typeface="Palatino Linotype"/>
                          <a:ea typeface="Noto Sans SC"/>
                        </a:rPr>
                        <a:t>0.340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5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E6623"/>
                          </a:solidFill>
                          <a:latin typeface="Palatino Linotype"/>
                          <a:ea typeface="Noto Sans SC"/>
                        </a:rPr>
                        <a:t>0.497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5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E6623"/>
                          </a:solidFill>
                          <a:latin typeface="Palatino Linotype"/>
                          <a:ea typeface="Noto Sans SC"/>
                        </a:rPr>
                        <a:t>3.95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5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E6623"/>
                          </a:solidFill>
                          <a:latin typeface="Palatino Linotype"/>
                          <a:ea typeface="Noto Sans SC"/>
                        </a:rPr>
                        <a:t>94.2</a:t>
                      </a:r>
                    </a:p>
                  </a:txBody>
                  <a:tcPr marL="76200" marR="76200" marT="28575" marB="28575" anchor="ctr">
                    <a:lnB w="9525" cap="flat" cmpd="sng" algn="ctr">
                      <a:solidFill>
                        <a:srgbClr val="E4E4DE"/>
                      </a:solidFill>
                      <a:prstDash val="solid"/>
                    </a:lnB>
                    <a:solidFill>
                      <a:srgbClr val="F5F7F1"/>
                    </a:solidFill>
                  </a:tcPr>
                </a:tc>
              </a:tr>
            </a:tbl>
          </a:graphicData>
        </a:graphic>
      </p:graphicFrame>
      <p:sp>
        <p:nvSpPr>
          <p:cNvPr id="1163" name="注释"/>
          <p:cNvSpPr txBox="1"/>
          <p:nvPr/>
        </p:nvSpPr>
        <p:spPr>
          <a:xfrm>
            <a:off x="504825" y="4133850"/>
            <a:ext cx="11182350" cy="3238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05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注：区间预测仅本文方法提供，故基线对应列以「—」表示。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64" name="章节数字"/>
          <p:cNvSpPr txBox="1"/>
          <p:nvPr/>
        </p:nvSpPr>
        <p:spPr>
          <a:xfrm>
            <a:off x="1000125" y="2428875"/>
            <a:ext cx="2019300" cy="20193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zh-CN" altLang="en-US" sz="7200" b="1" dirty="0">
                <a:solidFill>
                  <a:srgbClr val="FFFFFF"/>
                </a:solidFill>
                <a:latin typeface="Palatino Linotype"/>
                <a:ea typeface="Noto Sans SC"/>
                <a:cs typeface="Palatino Linotype"/>
              </a:rPr>
              <a:t>03</a:t>
            </a:r>
          </a:p>
        </p:txBody>
      </p:sp>
      <p:sp>
        <p:nvSpPr>
          <p:cNvPr id="1165" name="章节标题"/>
          <p:cNvSpPr txBox="1"/>
          <p:nvPr/>
        </p:nvSpPr>
        <p:spPr>
          <a:xfrm>
            <a:off x="3600450" y="2552700"/>
            <a:ext cx="7620000" cy="5524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36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方法设计</a:t>
            </a:r>
          </a:p>
        </p:txBody>
      </p:sp>
      <p:sp>
        <p:nvSpPr>
          <p:cNvPr id="1166" name="章节英文"/>
          <p:cNvSpPr txBox="1"/>
          <p:nvPr/>
        </p:nvSpPr>
        <p:spPr>
          <a:xfrm>
            <a:off x="3600450" y="3143250"/>
            <a:ext cx="80010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5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METHODOLOGY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目标函数与约束</a:t>
            </a:r>
          </a:p>
        </p:txBody>
      </p:sp>
      <p:sp>
        <p:nvSpPr>
          <p:cNvPr id="1167" name="章节眉标"/>
          <p:cNvSpPr txBox="1"/>
          <p:nvPr/>
        </p:nvSpPr>
        <p:spPr>
          <a:xfrm>
            <a:off x="504825" y="13716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3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03 · 方法设计</a:t>
            </a:r>
          </a:p>
        </p:txBody>
      </p:sp>
      <p:sp>
        <p:nvSpPr>
          <p:cNvPr id="1168" name="章节内进度1-3"/>
          <p:cNvSpPr/>
          <p:nvPr/>
        </p:nvSpPr>
        <p:spPr>
          <a:xfrm>
            <a:off x="1552575" y="1004888"/>
            <a:ext cx="1524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9" name="引语"/>
          <p:cNvSpPr txBox="1"/>
          <p:nvPr/>
        </p:nvSpPr>
        <p:spPr>
          <a:xfrm>
            <a:off x="504825" y="2419350"/>
            <a:ext cx="1118235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lang="zh-CN" altLang="en-US" sz="16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模型对每个分位同时优化，从而直接输出预测区间：</a:t>
            </a:r>
          </a:p>
        </p:txBody>
      </p:sp>
      <p:sp>
        <p:nvSpPr>
          <p:cNvPr id="1170" name="公式块底"/>
          <p:cNvSpPr/>
          <p:nvPr/>
        </p:nvSpPr>
        <p:spPr>
          <a:xfrm>
            <a:off x="504825" y="2800350"/>
            <a:ext cx="11182350" cy="1443990"/>
          </a:xfrm>
          <a:prstGeom prst="rect">
            <a:avLst/>
          </a:prstGeom>
          <a:solidFill>
            <a:srgbClr val="F5F7F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1" name="公式块左条"/>
          <p:cNvSpPr/>
          <p:nvPr/>
        </p:nvSpPr>
        <p:spPr>
          <a:xfrm>
            <a:off x="504825" y="2800350"/>
            <a:ext cx="28575" cy="1443990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72" name="demo_objecti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620" y="3048000"/>
            <a:ext cx="3794760" cy="621030"/>
          </a:xfrm>
          <a:prstGeom prst="rect">
            <a:avLst/>
          </a:prstGeom>
        </p:spPr>
      </p:pic>
      <p:pic>
        <p:nvPicPr>
          <p:cNvPr id="1173" name="demo_constrai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320" y="3764280"/>
            <a:ext cx="5547360" cy="232410"/>
          </a:xfrm>
          <a:prstGeom prst="rect">
            <a:avLst/>
          </a:prstGeom>
        </p:spPr>
      </p:pic>
      <p:sp>
        <p:nvSpPr>
          <p:cNvPr id="1174" name="公式编号"/>
          <p:cNvSpPr txBox="1"/>
          <p:nvPr/>
        </p:nvSpPr>
        <p:spPr>
          <a:xfrm>
            <a:off x="10944225" y="3086100"/>
            <a:ext cx="59055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45000"/>
              </a:lnSpc>
            </a:pPr>
            <a:r>
              <a:rPr lang="zh-CN" altLang="en-US" sz="13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(1)</a:t>
            </a:r>
          </a:p>
        </p:txBody>
      </p:sp>
      <p:sp>
        <p:nvSpPr>
          <p:cNvPr id="1175" name="公式编号"/>
          <p:cNvSpPr txBox="1"/>
          <p:nvPr/>
        </p:nvSpPr>
        <p:spPr>
          <a:xfrm>
            <a:off x="10944225" y="3714750"/>
            <a:ext cx="59055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45000"/>
              </a:lnSpc>
            </a:pPr>
            <a:r>
              <a:rPr lang="zh-CN" altLang="en-US" sz="13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(2)</a:t>
            </a:r>
          </a:p>
        </p:txBody>
      </p:sp>
      <p:sp>
        <p:nvSpPr>
          <p:cNvPr id="1176" name="注释"/>
          <p:cNvSpPr txBox="1"/>
          <p:nvPr/>
        </p:nvSpPr>
        <p:spPr>
          <a:xfrm>
            <a:off x="504825" y="4339590"/>
            <a:ext cx="1118235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1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注：块内两条公式由 eqblock 用同一个倍率放置 —— 见 SKILL §5.3.1。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完整模型（公式墙）</a:t>
            </a:r>
          </a:p>
        </p:txBody>
      </p:sp>
      <p:sp>
        <p:nvSpPr>
          <p:cNvPr id="1177" name="章节眉标"/>
          <p:cNvSpPr txBox="1"/>
          <p:nvPr/>
        </p:nvSpPr>
        <p:spPr>
          <a:xfrm>
            <a:off x="504825" y="13716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3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03 · 方法设计</a:t>
            </a:r>
          </a:p>
        </p:txBody>
      </p:sp>
      <p:sp>
        <p:nvSpPr>
          <p:cNvPr id="1178" name="章节内进度2-3"/>
          <p:cNvSpPr/>
          <p:nvPr/>
        </p:nvSpPr>
        <p:spPr>
          <a:xfrm>
            <a:off x="1552575" y="1004888"/>
            <a:ext cx="3048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79" name="demo_objecti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3539490"/>
            <a:ext cx="3794760" cy="621030"/>
          </a:xfrm>
          <a:prstGeom prst="rect">
            <a:avLst/>
          </a:prstGeom>
        </p:spPr>
      </p:pic>
      <p:pic>
        <p:nvPicPr>
          <p:cNvPr id="1180" name="demo_upd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4255770"/>
            <a:ext cx="2446020" cy="281940"/>
          </a:xfrm>
          <a:prstGeom prst="rect">
            <a:avLst/>
          </a:prstGeom>
        </p:spPr>
      </p:pic>
      <p:pic>
        <p:nvPicPr>
          <p:cNvPr id="1181" name="demo_g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3491865"/>
            <a:ext cx="2541270" cy="594360"/>
          </a:xfrm>
          <a:prstGeom prst="rect">
            <a:avLst/>
          </a:prstGeom>
        </p:spPr>
      </p:pic>
      <p:pic>
        <p:nvPicPr>
          <p:cNvPr id="1182" name="demo_subproble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4181475"/>
            <a:ext cx="2907030" cy="403860"/>
          </a:xfrm>
          <a:prstGeom prst="rect">
            <a:avLst/>
          </a:prstGeom>
        </p:spPr>
      </p:pic>
      <p:sp>
        <p:nvSpPr>
          <p:cNvPr id="1183" name="注释"/>
          <p:cNvSpPr txBox="1"/>
          <p:nvPr/>
        </p:nvSpPr>
        <p:spPr>
          <a:xfrm>
            <a:off x="504825" y="5772150"/>
            <a:ext cx="1118235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1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注：eqgrid 先算出一个统一倍率再排所有列。某页放不下时应整页统一缩小或拆页，绝不能只缩其中一张。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求解流程</a:t>
            </a:r>
          </a:p>
        </p:txBody>
      </p:sp>
      <p:sp>
        <p:nvSpPr>
          <p:cNvPr id="1184" name="章节眉标"/>
          <p:cNvSpPr txBox="1"/>
          <p:nvPr/>
        </p:nvSpPr>
        <p:spPr>
          <a:xfrm>
            <a:off x="504825" y="13716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3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03 · 方法设计</a:t>
            </a:r>
          </a:p>
        </p:txBody>
      </p:sp>
      <p:sp>
        <p:nvSpPr>
          <p:cNvPr id="1185" name="章节内进度3-3"/>
          <p:cNvSpPr/>
          <p:nvPr/>
        </p:nvSpPr>
        <p:spPr>
          <a:xfrm>
            <a:off x="1552575" y="1004888"/>
            <a:ext cx="4572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86" name="demo_pseu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2419350"/>
            <a:ext cx="7024322" cy="3448050"/>
          </a:xfrm>
          <a:prstGeom prst="rect">
            <a:avLst/>
          </a:prstGeom>
        </p:spPr>
      </p:pic>
      <p:sp>
        <p:nvSpPr>
          <p:cNvPr id="1187" name="注释"/>
          <p:cNvSpPr txBox="1"/>
          <p:nvPr/>
        </p:nvSpPr>
        <p:spPr>
          <a:xfrm>
            <a:off x="504825" y="5962650"/>
            <a:ext cx="11182350" cy="19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1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注：算法由 make_formulas.py 用 algorithm2e（ruled 三线式）渲染，标题与编号自动生成；过长时切两段并排。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8" name="章节数字"/>
          <p:cNvSpPr txBox="1"/>
          <p:nvPr/>
        </p:nvSpPr>
        <p:spPr>
          <a:xfrm>
            <a:off x="1000125" y="2428875"/>
            <a:ext cx="2019300" cy="20193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zh-CN" altLang="en-US" sz="7200" b="1" dirty="0">
                <a:solidFill>
                  <a:srgbClr val="FFFFFF"/>
                </a:solidFill>
                <a:latin typeface="Palatino Linotype"/>
                <a:ea typeface="Noto Sans SC"/>
                <a:cs typeface="Palatino Linotype"/>
              </a:rPr>
              <a:t>04</a:t>
            </a:r>
          </a:p>
        </p:txBody>
      </p:sp>
      <p:sp>
        <p:nvSpPr>
          <p:cNvPr id="1189" name="章节标题"/>
          <p:cNvSpPr txBox="1"/>
          <p:nvPr/>
        </p:nvSpPr>
        <p:spPr>
          <a:xfrm>
            <a:off x="3600450" y="2552700"/>
            <a:ext cx="7620000" cy="5524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36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实验与分析</a:t>
            </a:r>
          </a:p>
        </p:txBody>
      </p:sp>
      <p:sp>
        <p:nvSpPr>
          <p:cNvPr id="1190" name="章节英文"/>
          <p:cNvSpPr txBox="1"/>
          <p:nvPr/>
        </p:nvSpPr>
        <p:spPr>
          <a:xfrm>
            <a:off x="3600450" y="3143250"/>
            <a:ext cx="80010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5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EXPERIMENTS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精度提升与消融</a:t>
            </a:r>
          </a:p>
        </p:txBody>
      </p:sp>
      <p:sp>
        <p:nvSpPr>
          <p:cNvPr id="1191" name="章节眉标"/>
          <p:cNvSpPr txBox="1"/>
          <p:nvPr/>
        </p:nvSpPr>
        <p:spPr>
          <a:xfrm>
            <a:off x="504825" y="13716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3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04 · 实验与分析</a:t>
            </a:r>
          </a:p>
        </p:txBody>
      </p:sp>
      <p:sp>
        <p:nvSpPr>
          <p:cNvPr id="1192" name="章节内进度1-2"/>
          <p:cNvSpPr/>
          <p:nvPr/>
        </p:nvSpPr>
        <p:spPr>
          <a:xfrm>
            <a:off x="2076450" y="1004888"/>
            <a:ext cx="2286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3" name="数字"/>
          <p:cNvSpPr txBox="1"/>
          <p:nvPr/>
        </p:nvSpPr>
        <p:spPr>
          <a:xfrm>
            <a:off x="504825" y="2266950"/>
            <a:ext cx="353695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lang="zh-CN" altLang="en-US" sz="48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−8.4%</a:t>
            </a:r>
          </a:p>
        </p:txBody>
      </p:sp>
      <p:sp>
        <p:nvSpPr>
          <p:cNvPr id="1194" name="注释"/>
          <p:cNvSpPr txBox="1"/>
          <p:nvPr/>
        </p:nvSpPr>
        <p:spPr>
          <a:xfrm>
            <a:off x="504825" y="2971800"/>
            <a:ext cx="3536950" cy="3238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3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MAE 相对最优基线下降</a:t>
            </a:r>
          </a:p>
        </p:txBody>
      </p:sp>
      <p:sp>
        <p:nvSpPr>
          <p:cNvPr id="1195" name="数字"/>
          <p:cNvSpPr txBox="1"/>
          <p:nvPr/>
        </p:nvSpPr>
        <p:spPr>
          <a:xfrm>
            <a:off x="4232275" y="2266950"/>
            <a:ext cx="353695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lang="zh-CN" altLang="en-US" sz="4800" b="1" dirty="0">
                <a:solidFill>
                  <a:srgbClr val="00807C"/>
                </a:solidFill>
                <a:latin typeface="Palatino Linotype"/>
                <a:ea typeface="Noto Sans SC"/>
                <a:cs typeface="Palatino Linotype"/>
              </a:rPr>
              <a:t>94.2%</a:t>
            </a:r>
          </a:p>
        </p:txBody>
      </p:sp>
      <p:sp>
        <p:nvSpPr>
          <p:cNvPr id="1196" name="注释"/>
          <p:cNvSpPr txBox="1"/>
          <p:nvPr/>
        </p:nvSpPr>
        <p:spPr>
          <a:xfrm>
            <a:off x="4232275" y="2971800"/>
            <a:ext cx="3536950" cy="3238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3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95% 名义区间覆盖率</a:t>
            </a:r>
          </a:p>
        </p:txBody>
      </p:sp>
      <p:sp>
        <p:nvSpPr>
          <p:cNvPr id="1197" name="数字"/>
          <p:cNvSpPr txBox="1"/>
          <p:nvPr/>
        </p:nvSpPr>
        <p:spPr>
          <a:xfrm>
            <a:off x="7959725" y="2266950"/>
            <a:ext cx="353695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</a:pPr>
            <a:r>
              <a:rPr lang="zh-CN" altLang="en-US" sz="48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6 yr</a:t>
            </a:r>
          </a:p>
        </p:txBody>
      </p:sp>
      <p:sp>
        <p:nvSpPr>
          <p:cNvPr id="1198" name="注释"/>
          <p:cNvSpPr txBox="1"/>
          <p:nvPr/>
        </p:nvSpPr>
        <p:spPr>
          <a:xfrm>
            <a:off x="7959725" y="2971800"/>
            <a:ext cx="3536950" cy="3238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3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训练数据时间跨度</a:t>
            </a:r>
          </a:p>
        </p:txBody>
      </p:sp>
      <p:pic>
        <p:nvPicPr>
          <p:cNvPr id="1199" name="resilie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501" y="3371850"/>
            <a:ext cx="4848997" cy="2590800"/>
          </a:xfrm>
          <a:prstGeom prst="rect">
            <a:avLst/>
          </a:prstGeom>
        </p:spPr>
      </p:pic>
      <p:sp>
        <p:nvSpPr>
          <p:cNvPr id="1200" name="图注"/>
          <p:cNvSpPr txBox="1"/>
          <p:nvPr/>
        </p:nvSpPr>
        <p:spPr>
          <a:xfrm>
            <a:off x="504825" y="6019800"/>
            <a:ext cx="11182350" cy="1714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1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图 2　</a:t>
            </a:r>
            <a:r>
              <a:rPr lang="zh-CN" altLang="en-US" sz="11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指标随参数变化（宽构图示例插图）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阶段性总结</a:t>
            </a:r>
          </a:p>
        </p:txBody>
      </p:sp>
      <p:sp>
        <p:nvSpPr>
          <p:cNvPr id="1201" name="章节眉标"/>
          <p:cNvSpPr txBox="1"/>
          <p:nvPr/>
        </p:nvSpPr>
        <p:spPr>
          <a:xfrm>
            <a:off x="504825" y="13716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3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04 · 实验与分析</a:t>
            </a:r>
          </a:p>
        </p:txBody>
      </p:sp>
      <p:sp>
        <p:nvSpPr>
          <p:cNvPr id="1202" name="章节内进度2-2"/>
          <p:cNvSpPr/>
          <p:nvPr/>
        </p:nvSpPr>
        <p:spPr>
          <a:xfrm>
            <a:off x="2076450" y="1004888"/>
            <a:ext cx="4572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3" name="卡顶"/>
          <p:cNvSpPr/>
          <p:nvPr/>
        </p:nvSpPr>
        <p:spPr>
          <a:xfrm>
            <a:off x="504825" y="2419350"/>
            <a:ext cx="5453062" cy="2857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4" name="卡底"/>
          <p:cNvSpPr/>
          <p:nvPr/>
        </p:nvSpPr>
        <p:spPr>
          <a:xfrm>
            <a:off x="504825" y="2447925"/>
            <a:ext cx="5453062" cy="1362075"/>
          </a:xfrm>
          <a:prstGeom prst="rect">
            <a:avLst/>
          </a:prstGeom>
          <a:solidFill>
            <a:srgbClr val="EAF0E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5" name="卡标题"/>
          <p:cNvSpPr txBox="1"/>
          <p:nvPr/>
        </p:nvSpPr>
        <p:spPr>
          <a:xfrm>
            <a:off x="666750" y="2562225"/>
            <a:ext cx="5129212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lang="zh-CN" altLang="en-US" sz="15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已完成</a:t>
            </a:r>
          </a:p>
        </p:txBody>
      </p:sp>
      <p:sp>
        <p:nvSpPr>
          <p:cNvPr id="1206" name="卡正文"/>
          <p:cNvSpPr txBox="1"/>
          <p:nvPr/>
        </p:nvSpPr>
        <p:spPr>
          <a:xfrm>
            <a:off x="666750" y="2857500"/>
            <a:ext cx="5129212" cy="8191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3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① 数据管线与评测协议搭建完毕；</a:t>
            </a:r>
          </a:p>
          <a:p>
            <a:pPr algn="l">
              <a:lnSpc>
                <a:spcPct val="150000"/>
              </a:lnSpc>
            </a:pPr>
            <a:r>
              <a:rPr lang="zh-CN" altLang="en-US" sz="13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② 三类基线复现并统一评测；</a:t>
            </a:r>
          </a:p>
          <a:p>
            <a:pPr algn="l">
              <a:lnSpc>
                <a:spcPct val="150000"/>
              </a:lnSpc>
            </a:pPr>
            <a:r>
              <a:rPr lang="zh-CN" altLang="en-US" sz="13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③ 损失方案验证有效，覆盖率达标。</a:t>
            </a:r>
          </a:p>
        </p:txBody>
      </p:sp>
      <p:sp>
        <p:nvSpPr>
          <p:cNvPr id="1207" name="卡顶"/>
          <p:cNvSpPr/>
          <p:nvPr/>
        </p:nvSpPr>
        <p:spPr>
          <a:xfrm>
            <a:off x="6234112" y="2419350"/>
            <a:ext cx="5453062" cy="28575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8" name="卡底"/>
          <p:cNvSpPr/>
          <p:nvPr/>
        </p:nvSpPr>
        <p:spPr>
          <a:xfrm>
            <a:off x="6234112" y="2447925"/>
            <a:ext cx="5453062" cy="1362075"/>
          </a:xfrm>
          <a:prstGeom prst="rect">
            <a:avLst/>
          </a:prstGeom>
          <a:solidFill>
            <a:srgbClr val="F5F7F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9" name="卡标题"/>
          <p:cNvSpPr txBox="1"/>
          <p:nvPr/>
        </p:nvSpPr>
        <p:spPr>
          <a:xfrm>
            <a:off x="6396038" y="2562225"/>
            <a:ext cx="5129212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lang="zh-CN" altLang="en-US" sz="1500" b="1" dirty="0">
                <a:solidFill>
                  <a:srgbClr val="B23A2E"/>
                </a:solidFill>
                <a:latin typeface="Palatino Linotype"/>
                <a:ea typeface="Noto Sans SC"/>
                <a:cs typeface="Palatino Linotype"/>
              </a:rPr>
              <a:t>待解决</a:t>
            </a:r>
          </a:p>
        </p:txBody>
      </p:sp>
      <p:sp>
        <p:nvSpPr>
          <p:cNvPr id="1210" name="卡正文"/>
          <p:cNvSpPr txBox="1"/>
          <p:nvPr/>
        </p:nvSpPr>
        <p:spPr>
          <a:xfrm>
            <a:off x="6396038" y="2857500"/>
            <a:ext cx="5129212" cy="8191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3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① 极端样本稀疏，尾部区间偏窄；</a:t>
            </a:r>
          </a:p>
          <a:p>
            <a:pPr algn="l">
              <a:lnSpc>
                <a:spcPct val="150000"/>
              </a:lnSpc>
            </a:pPr>
            <a:r>
              <a:rPr lang="zh-CN" altLang="en-US" sz="13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② 跨区域迁移时精度衰减明显；</a:t>
            </a:r>
          </a:p>
          <a:p>
            <a:pPr algn="l">
              <a:lnSpc>
                <a:spcPct val="150000"/>
              </a:lnSpc>
            </a:pPr>
            <a:r>
              <a:rPr lang="zh-CN" altLang="en-US" sz="13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③ 推理时延未满足在线要求。</a:t>
            </a:r>
          </a:p>
        </p:txBody>
      </p:sp>
      <p:sp>
        <p:nvSpPr>
          <p:cNvPr id="1211" name="面板顶条"/>
          <p:cNvSpPr/>
          <p:nvPr/>
        </p:nvSpPr>
        <p:spPr>
          <a:xfrm>
            <a:off x="504825" y="4057650"/>
            <a:ext cx="11182350" cy="28575"/>
          </a:xfrm>
          <a:prstGeom prst="rect">
            <a:avLst/>
          </a:prstGeom>
          <a:solidFill>
            <a:srgbClr val="4D7C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2" name="面板底"/>
          <p:cNvSpPr/>
          <p:nvPr/>
        </p:nvSpPr>
        <p:spPr>
          <a:xfrm>
            <a:off x="504825" y="4086225"/>
            <a:ext cx="11182350" cy="847725"/>
          </a:xfrm>
          <a:prstGeom prst="rect">
            <a:avLst/>
          </a:prstGeom>
          <a:solidFill>
            <a:srgbClr val="EAF0E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3" name="面板文字"/>
          <p:cNvSpPr txBox="1"/>
          <p:nvPr/>
        </p:nvSpPr>
        <p:spPr>
          <a:xfrm>
            <a:off x="676275" y="4191000"/>
            <a:ext cx="10839450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500" b="1" dirty="0">
                <a:solidFill>
                  <a:srgbClr val="3E6623"/>
                </a:solidFill>
                <a:latin typeface="Palatino Linotype"/>
                <a:ea typeface="Noto Sans SC"/>
                <a:cs typeface="Palatino Linotype"/>
              </a:rPr>
              <a:t>核心问题　</a:t>
            </a:r>
            <a:r>
              <a:rPr lang="zh-CN" altLang="en-US" sz="15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现有方法在分布偏移下的可靠性如何界定？失效边界在哪里？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4" name="章节数字"/>
          <p:cNvSpPr txBox="1"/>
          <p:nvPr/>
        </p:nvSpPr>
        <p:spPr>
          <a:xfrm>
            <a:off x="1000125" y="2428875"/>
            <a:ext cx="2019300" cy="20193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zh-CN" altLang="en-US" sz="7200" b="1" dirty="0">
                <a:solidFill>
                  <a:srgbClr val="FFFFFF"/>
                </a:solidFill>
                <a:latin typeface="Palatino Linotype"/>
                <a:ea typeface="Noto Sans SC"/>
                <a:cs typeface="Palatino Linotype"/>
              </a:rPr>
              <a:t>05</a:t>
            </a:r>
          </a:p>
        </p:txBody>
      </p:sp>
      <p:sp>
        <p:nvSpPr>
          <p:cNvPr id="1215" name="章节标题"/>
          <p:cNvSpPr txBox="1"/>
          <p:nvPr/>
        </p:nvSpPr>
        <p:spPr>
          <a:xfrm>
            <a:off x="3600450" y="2552700"/>
            <a:ext cx="7620000" cy="5524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36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总结与展望</a:t>
            </a:r>
          </a:p>
        </p:txBody>
      </p:sp>
      <p:sp>
        <p:nvSpPr>
          <p:cNvPr id="1216" name="章节英文"/>
          <p:cNvSpPr txBox="1"/>
          <p:nvPr/>
        </p:nvSpPr>
        <p:spPr>
          <a:xfrm>
            <a:off x="3600450" y="3143250"/>
            <a:ext cx="8001000" cy="2476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5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CONCLUSION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参考文献</a:t>
            </a:r>
          </a:p>
        </p:txBody>
      </p:sp>
      <p:sp>
        <p:nvSpPr>
          <p:cNvPr id="1217" name="章节眉标"/>
          <p:cNvSpPr txBox="1"/>
          <p:nvPr/>
        </p:nvSpPr>
        <p:spPr>
          <a:xfrm>
            <a:off x="504825" y="13716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zh-CN" altLang="en-US" sz="13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05 · 总结与展望</a:t>
            </a:r>
          </a:p>
        </p:txBody>
      </p:sp>
      <p:sp>
        <p:nvSpPr>
          <p:cNvPr id="1218" name="章节内进度1-1"/>
          <p:cNvSpPr/>
          <p:nvPr/>
        </p:nvSpPr>
        <p:spPr>
          <a:xfrm>
            <a:off x="2600325" y="1004888"/>
            <a:ext cx="457200" cy="28575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9" name="参考文献"/>
          <p:cNvSpPr txBox="1"/>
          <p:nvPr/>
        </p:nvSpPr>
        <p:spPr>
          <a:xfrm>
            <a:off x="504825" y="2419350"/>
            <a:ext cx="11182350" cy="323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[1] </a:t>
            </a:r>
            <a:r>
              <a:rPr lang="zh-CN" altLang="en-US" sz="12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GB/T 7714-2015. 信息与文献 参考文献著录规则[S]. 北京: 中国标准出版社, 2015.</a:t>
            </a:r>
          </a:p>
          <a:p>
            <a:pPr marL="285750" indent="-285750" algn="l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[2] </a:t>
            </a:r>
            <a:r>
              <a:rPr lang="zh-CN" altLang="en-US" sz="12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Hosseini S, Barker K, Ramirez-Marquez J E. A review of definitions and measures of system resilience[J]. Reliability Engineering &amp; System Safety, 2016, 145: 47-61.</a:t>
            </a:r>
          </a:p>
          <a:p>
            <a:pPr marL="285750" indent="-285750" algn="l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[3] </a:t>
            </a:r>
            <a:r>
              <a:rPr lang="zh-CN" altLang="en-US" sz="12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Wang Y, Chen Q, Hong T, et al. Review of smart meter data analytics[J]. IEEE Transactions on Smart Grid, 2019, 10(3): 3125-3148.</a:t>
            </a:r>
          </a:p>
          <a:p>
            <a:pPr marL="285750" indent="-285750" algn="l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b="1" dirty="0">
                <a:solidFill>
                  <a:srgbClr val="4D7C2B"/>
                </a:solidFill>
                <a:latin typeface="Palatino Linotype"/>
                <a:ea typeface="Noto Sans SC"/>
                <a:cs typeface="Palatino Linotype"/>
              </a:rPr>
              <a:t>[4] </a:t>
            </a:r>
            <a:r>
              <a:rPr lang="zh-CN" altLang="en-US" sz="1200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示例条目：换成你自己的文献，或用 prep_refs.py 从源 PDF 自动抽取。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20" name="致谢主标题"/>
          <p:cNvSpPr txBox="1"/>
          <p:nvPr/>
        </p:nvSpPr>
        <p:spPr>
          <a:xfrm>
            <a:off x="1333500" y="2457450"/>
            <a:ext cx="9525000" cy="723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zh-CN" altLang="en-US" sz="5200" b="1" dirty="0">
                <a:solidFill>
                  <a:srgbClr val="1A1A1A"/>
                </a:solidFill>
                <a:latin typeface="Palatino Linotype"/>
                <a:ea typeface="Noto Sans SC"/>
                <a:cs typeface="Palatino Linotype"/>
              </a:rPr>
              <a:t>感谢聆听</a:t>
            </a:r>
          </a:p>
        </p:txBody>
      </p:sp>
      <p:sp>
        <p:nvSpPr>
          <p:cNvPr id="1221" name="致谢副标题"/>
          <p:cNvSpPr txBox="1"/>
          <p:nvPr/>
        </p:nvSpPr>
        <p:spPr>
          <a:xfrm>
            <a:off x="1333500" y="3276600"/>
            <a:ext cx="9525000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zh-CN" altLang="en-US" sz="2200" spc="3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敬请批评指正</a:t>
            </a:r>
          </a:p>
        </p:txBody>
      </p:sp>
      <p:sp>
        <p:nvSpPr>
          <p:cNvPr id="1222" name="致谢信息"/>
          <p:cNvSpPr txBox="1"/>
          <p:nvPr/>
        </p:nvSpPr>
        <p:spPr>
          <a:xfrm>
            <a:off x="1333500" y="3848100"/>
            <a:ext cx="9525000" cy="533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张珂 · 东南大学电气工程学院</a:t>
            </a:r>
          </a:p>
          <a:p>
            <a:pPr algn="ctr">
              <a:lnSpc>
                <a:spcPct val="150000"/>
              </a:lnSpc>
            </a:pPr>
            <a:r>
              <a:rPr lang="zh-CN" altLang="en-US" sz="1300" dirty="0">
                <a:solidFill>
                  <a:srgbClr val="6B6B6B"/>
                </a:solidFill>
                <a:latin typeface="Palatino Linotype"/>
                <a:ea typeface="Noto Sans SC"/>
                <a:cs typeface="Palatino Linotype"/>
              </a:rPr>
              <a:t>2026 年 9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U-NARI">
      <a:dk1>
        <a:srgbClr val="1A1A1A"/>
      </a:dk1>
      <a:lt1>
        <a:srgbClr val="FFFFFF"/>
      </a:lt1>
      <a:dk2>
        <a:srgbClr val="3E6623"/>
      </a:dk2>
      <a:lt2>
        <a:srgbClr val="F5F7F1"/>
      </a:lt2>
      <a:accent1>
        <a:srgbClr val="4D7C2B"/>
      </a:accent1>
      <a:accent2>
        <a:srgbClr val="00807C"/>
      </a:accent2>
      <a:accent3>
        <a:srgbClr val="C9A227"/>
      </a:accent3>
      <a:accent4>
        <a:srgbClr val="7BA05B"/>
      </a:accent4>
      <a:accent5>
        <a:srgbClr val="00615E"/>
      </a:accent5>
      <a:accent6>
        <a:srgbClr val="9AA09A"/>
      </a:accent6>
      <a:hlink>
        <a:srgbClr val="00807C"/>
      </a:hlink>
      <a:folHlink>
        <a:srgbClr val="3E6623"/>
      </a:folHlink>
    </a:clrScheme>
    <a:fontScheme name="Office">
      <a:majorFont name="Palatino Linotype">
        <a:latin typeface="Palatino Linotype"/>
        <a:ea typeface="Noto Sans SC"/>
        <a:cs typeface="Palatino Linotype"/>
        <a:font script="Hans" typeface="Noto Sans SC"/>
        <a:font script="Hant" typeface="Noto Sans SC"/>
      </a:majorFont>
      <a:minorFont name="Palatino Linotype">
        <a:latin typeface="Palatino Linotype"/>
        <a:ea typeface="Noto Sans SC"/>
        <a:cs typeface="Palatino Linotype"/>
        <a:font script="Hans" typeface="Noto Sans SC"/>
        <a:font script="Hant" typeface="Noto Sans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